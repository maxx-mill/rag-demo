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id="{6b113e42-3d4f-6a4b-46c4-d402a8281364}">
          <p14:sldIdLst>
            <p14:sldId id="256"/>
            <p14:sldId id="257"/>
            <p14:sldId id="258"/>
          </p14:sldIdLst>
        </p14:section>
        <p14:section name="Methodology" id="{817982bd-b04e-f3a6-ce95-41189f6faa2f}">
          <p14:sldIdLst>
            <p14:sldId id="259"/>
            <p14:sldId id="260"/>
            <p14:sldId id="261"/>
          </p14:sldIdLst>
        </p14:section>
        <p14:section name="Analytical process" id="{82d01b12-8cf1-7f31-159e-aa48ddef0193}">
          <p14:sldIdLst>
            <p14:sldId id="262"/>
            <p14:sldId id="263"/>
            <p14:sldId id="264"/>
            <p14:sldId id="265"/>
            <p14:sldId id="266"/>
          </p14:sldIdLst>
        </p14:section>
        <p14:section name="Results" id="{47475d07-22e3-b1d6-a38e-b5dbe3b28711}">
          <p14:sldIdLst>
            <p14:sldId id="267"/>
            <p14:sldId id="268"/>
            <p14:sldId id="269"/>
          </p14:sldIdLst>
        </p14:section>
        <p14:section name="Wrap-up" id="{558f5588-0588-b1dd-de5a-e1780d3c203c}">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C677D"/>
                </a:solidFill>
                <a:latin typeface="+mn-lt"/>
              </a:defRPr>
            </a:pPr>
            <a:r>
              <a:rPr sz="1400" b="0" i="0" u="none" strike="noStrike">
                <a:solidFill>
                  <a:srgbClr val="5C677D"/>
                </a:solidFill>
                <a:latin typeface="+mn-lt"/>
              </a:rPr>
              <a:t>Share of key facts answered (8 covered questions)</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2A9D8F"/>
            </a:solidFill>
            <a:effectLst/>
          </c:spPr>
          <c:invertIfNegative val="0"/>
          <c:dLbls>
            <c:numFmt formatCode="0.0&quot;%&quot;" sourceLinked="0"/>
            <c:txPr>
              <a:bodyPr/>
              <a:lstStyle/>
              <a:p>
                <a:pPr>
                  <a:defRPr b="1" i="0" strike="noStrike" sz="16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8D99AE"/>
              </a:solidFill>
              <a:effectLst/>
            </c:spPr>
          </c:dPt>
          <c:dPt>
            <c:idx val="2"/>
            <c:invertIfNegative val="0"/>
            <c:bubble3D val="0"/>
            <c:spPr>
              <a:solidFill>
                <a:srgbClr val="8D99AE"/>
              </a:solidFill>
              <a:effectLst/>
            </c:spPr>
          </c:dPt>
          <c:cat>
            <c:multiLvlStrRef>
              <c:f>Sheet1!$A$2:$A$4</c:f>
              <c:multiLvlStrCache>
                <c:ptCount val="3"/>
                <c:lvl>
                  <c:pt idx="0">
                    <c:v>RAG</c:v>
                  </c:pt>
                  <c:pt idx="1">
                    <c:v>Guarded baseline</c:v>
                  </c:pt>
                  <c:pt idx="2">
                    <c:v>Open baseline</c:v>
                  </c:pt>
                </c:lvl>
              </c:multiLvlStrCache>
            </c:multiLvlStrRef>
          </c:cat>
          <c:val>
            <c:numRef>
              <c:f>Sheet1!$B$2:$B$4</c:f>
              <c:numCache>
                <c:formatCode>General</c:formatCode>
                <c:ptCount val="3"/>
                <c:pt idx="0">
                  <c:v>100</c:v>
                </c:pt>
                <c:pt idx="1">
                  <c:v>12.5</c:v>
                </c:pt>
                <c:pt idx="2">
                  <c:v>12.5</c:v>
                </c:pt>
              </c:numCache>
            </c:numRef>
          </c:val>
        </c:ser>
        <c:dLbls>
          <c:numFmt formatCode="0.0&quot;%&quot;" sourceLinked="0"/>
          <c:txPr>
            <a:bodyPr/>
            <a:lstStyle/>
            <a:p>
              <a:pPr>
                <a:defRPr b="1" i="0" strike="noStrike" sz="16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C677D"/>
                </a:solidFill>
                <a:latin typeface="+mn-lt"/>
              </a:defRPr>
            </a:pPr>
            <a:r>
              <a:rPr sz="1400" b="0" i="0" u="none" strike="noStrike">
                <a:solidFill>
                  <a:srgbClr val="5C677D"/>
                </a:solidFill>
                <a:latin typeface="+mn-lt"/>
              </a:rPr>
              <a:t>Distance to the best-matching chunk (lower = closer)</a:t>
            </a:r>
          </a:p>
        </c:rich>
      </c:tx>
      <c:layout/>
      <c:overlay val="0"/>
    </c:title>
    <c:autoTitleDeleted val="0"/>
    <c:plotArea>
      <c:layout/>
      <c:barChart>
        <c:barDir val="bar"/>
        <c:grouping val="clustered"/>
        <c:varyColors val="0"/>
        <c:ser>
          <c:idx val="0"/>
          <c:order val="0"/>
          <c:tx>
            <c:strRef>
              <c:f>Sheet1!$B$1</c:f>
              <c:strCache>
                <c:ptCount val="1"/>
                <c:pt idx="0">
                  <c:v>Distance</c:v>
                </c:pt>
              </c:strCache>
            </c:strRef>
          </c:tx>
          <c:spPr>
            <a:solidFill>
              <a:srgbClr val="8D99AE"/>
            </a:solidFill>
            <a:effectLst/>
          </c:spPr>
          <c:invertIfNegative val="0"/>
          <c:dLbls>
            <c:numFmt formatCode="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8D99AE"/>
              </a:solidFill>
              <a:effectLst/>
            </c:spPr>
          </c:dPt>
          <c:dPt>
            <c:idx val="1"/>
            <c:invertIfNegative val="0"/>
            <c:bubble3D val="0"/>
            <c:spPr>
              <a:solidFill>
                <a:srgbClr val="8D99AE"/>
              </a:solidFill>
              <a:effectLst/>
            </c:spPr>
          </c:dPt>
          <c:dPt>
            <c:idx val="2"/>
            <c:invertIfNegative val="0"/>
            <c:bubble3D val="0"/>
            <c:spPr>
              <a:solidFill>
                <a:srgbClr val="8D99AE"/>
              </a:solidFill>
              <a:effectLst/>
            </c:spPr>
          </c:dPt>
          <c:dPt>
            <c:idx val="3"/>
            <c:invertIfNegative val="0"/>
            <c:bubble3D val="0"/>
            <c:spPr>
              <a:solidFill>
                <a:srgbClr val="8D99AE"/>
              </a:solidFill>
              <a:effectLst/>
            </c:spPr>
          </c:dPt>
          <c:dPt>
            <c:idx val="4"/>
            <c:invertIfNegative val="0"/>
            <c:bubble3D val="0"/>
            <c:spPr>
              <a:solidFill>
                <a:srgbClr val="8D99AE"/>
              </a:solidFill>
              <a:effectLst/>
            </c:spPr>
          </c:dPt>
          <c:dPt>
            <c:idx val="5"/>
            <c:invertIfNegative val="0"/>
            <c:bubble3D val="0"/>
            <c:spPr>
              <a:solidFill>
                <a:srgbClr val="8D99AE"/>
              </a:solidFill>
              <a:effectLst/>
            </c:spPr>
          </c:dPt>
          <c:dPt>
            <c:idx val="6"/>
            <c:invertIfNegative val="0"/>
            <c:bubble3D val="0"/>
            <c:spPr>
              <a:solidFill>
                <a:srgbClr val="8D99AE"/>
              </a:solidFill>
              <a:effectLst/>
            </c:spPr>
          </c:dPt>
          <c:dPt>
            <c:idx val="7"/>
            <c:invertIfNegative val="0"/>
            <c:bubble3D val="0"/>
            <c:spPr>
              <a:solidFill>
                <a:srgbClr val="8D99AE"/>
              </a:solidFill>
              <a:effectLst/>
            </c:spPr>
          </c:dPt>
          <c:dPt>
            <c:idx val="8"/>
            <c:invertIfNegative val="0"/>
            <c:bubble3D val="0"/>
            <c:spPr>
              <a:solidFill>
                <a:srgbClr val="F2A900"/>
              </a:solidFill>
              <a:effectLst/>
            </c:spPr>
          </c:dPt>
          <c:dPt>
            <c:idx val="9"/>
            <c:invertIfNegative val="0"/>
            <c:bubble3D val="0"/>
            <c:spPr>
              <a:solidFill>
                <a:srgbClr val="F2A900"/>
              </a:solidFill>
              <a:effectLst/>
            </c:spPr>
          </c:dPt>
          <c:cat>
            <c:multiLvlStrRef>
              <c:f>Sheet1!$A$2:$A$11</c:f>
              <c:multiLvlStrCache>
                <c:ptCount val="10"/>
                <c:lvl>
                  <c:pt idx="0">
                    <c:v>Q02 default snap tolerance</c:v>
                  </c:pt>
                  <c:pt idx="1">
                    <c:v>Q05 unknown voltage</c:v>
                  </c:pt>
                  <c:pt idx="2">
                    <c:v>Q10 WGS 84 EPSG code</c:v>
                  </c:pt>
                  <c:pt idx="3">
                    <c:v>Q07 Bluestem RET status</c:v>
                  </c:pt>
                  <c:pt idx="4">
                    <c:v>Q01 AC phase code</c:v>
                  </c:pt>
                  <c:pt idx="5">
                    <c:v>Q03 Prairie Wind tolerance</c:v>
                  </c:pt>
                  <c:pt idx="6">
                    <c:v>Q04 Ozark retired poles</c:v>
                  </c:pt>
                  <c:pt idx="7">
                    <c:v>Q06 GLC-214 error</c:v>
                  </c:pt>
                  <c:pt idx="8">
                    <c:v>Q09 water hydrants (not in docs)</c:v>
                  </c:pt>
                  <c:pt idx="9">
                    <c:v>Q08 span length (not in docs)</c:v>
                  </c:pt>
                </c:lvl>
              </c:multiLvlStrCache>
            </c:multiLvlStrRef>
          </c:cat>
          <c:val>
            <c:numRef>
              <c:f>Sheet1!$B$2:$B$11</c:f>
              <c:numCache>
                <c:formatCode>General</c:formatCode>
                <c:ptCount val="10"/>
                <c:pt idx="0">
                  <c:v>0.703</c:v>
                </c:pt>
                <c:pt idx="1">
                  <c:v>0.771</c:v>
                </c:pt>
                <c:pt idx="2">
                  <c:v>0.785</c:v>
                </c:pt>
                <c:pt idx="3">
                  <c:v>0.818</c:v>
                </c:pt>
                <c:pt idx="4">
                  <c:v>0.859</c:v>
                </c:pt>
                <c:pt idx="5">
                  <c:v>0.894</c:v>
                </c:pt>
                <c:pt idx="6">
                  <c:v>0.902</c:v>
                </c:pt>
                <c:pt idx="7">
                  <c:v>0.915</c:v>
                </c:pt>
                <c:pt idx="8">
                  <c:v>1.105</c:v>
                </c:pt>
                <c:pt idx="9">
                  <c:v>1.127</c:v>
                </c:pt>
              </c:numCache>
            </c:numRef>
          </c:val>
        </c:ser>
        <c:dLbls>
          <c:numFmt formatCode="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Maxx. My project is UtilityRAG: a retrieval-augmented generation system that answers GIS conversion questions from internal documentation, cites the file it used, and says 'not in the docs' when it can't find the answer. I'll cover the problem, my methods and tools, the analysis steps with the code, and what I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GIS conversion analysts need answers that live in internal documentation. A general LLM knows public GIS practice, like Esri data models and EPSG codes. It doesn't know an organization's own target schema, each cooperative's exceptions, or current QA thresholds. Asked anyway, it either declines or guesses a standard answer that's wrong locally. My question: can a RAG system answer correctly, cite its source, and say 'not in the docs' when it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RAG and not fine-tuning? Three reasons. The knowledge is private. It changes often, and re-indexing a document takes seconds while a fine-tuned model goes stale with every edit. And it has to be traceable: an analyst applying a tolerance needs to see which page it came from, and RAG can cite it. RAG isn't the answer for questions about the data itself or spatial reasoning over geometry; those need PostGIS or database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conversion docs are proprietary, so I wrote 12 synthetic Markdown documents for a fictional conversion team and three fictional cooperatives. I set the key values by hand and made them deliberately nonstandard so the model can't guess them: phase AC is 22, RET means out of service, unknown voltage is -77. I also built in traps: each co-op page overrides a general default, like Prairie Wind's 0.25 foot snapping tolerance, shown here, versus the 0.04 foot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pipeline, following LangChain's rag-from-scratch notebooks. Indexing runs once: load the 12 docs, split them by Markdown heading, embed the chunks with Voyage AI, and store them in Chroma. For each question: retrieve the top 4 chunks by similarity, put them in a prompt that requires citations or 'not in the docs', and send it to Claude Haiku 5.5. The baselines skip retrieval and send the question straight to the same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it, the same 10 questions go to three systems built on the same model. RAG gets the retrieved chunks. The guarded baseline gets no docs but is allowed to say 'not in the docs'. The open baseline gets just the bare question, the way someone would use a general chatbot. The questions are four local conventions, three co-op exceptions, two that the docs don't cover, and one public control. I measure accuracy against an answer key, abstention, hallucination, and whether retrieval found the right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indexing. Instead of the tutorial's fixed 1,000-character chunks, I split on Markdown headings first, then by size only if a section is still long. That keeps a value like 0.25 feet next to the heading that says it's Prairie Wind's exception. Each chunk also keeps its file name and heading path, which is what the answer cites. The 12 docs become 55 chunks, which I embed with Voyage and store in Chroma.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retrieval. The retriever embeds the question and returns the 4 closest chunks. For the Prairie Wind question, the co-op's snapping-tolerance exception comes back first, and the general 0.04 foot default comes back second. That's exactly the trap I built: retrieval has to put the exception above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generation. My prompt adds three rules to the tutorial's: cite the source file after each fact, cooperative pages override general standards, and if the context doesn't contain the answer, reply exactly 'not in the docs'. On the right are two real answers: the Bluestem RET question gets all three key facts with a citation, and the span-length question, which the docs don't cover, gets 'not in the docs'. Saying no matters as much as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wires it together with LangChain's expression language. The RAG chain retrieves once, formats the chunks with their file names, and passes them through the prompt and the model. It also keeps the retrieved documents so I can check which files came back. The two baselines use the same model with no retrieval: the guarded one gets a sentence about GridLine and permission to abstain, and the open one gets nothing but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is scoring. Each question has an answer key of one to three exact key facts and the file they come from. The scorer checks each fact as a whole token, so '22' can't accidentally match '2026'. Then I read every answer by hand to catch values that aren't in the docs, and I repeated the whole test three more times, because the Claude API no longer accepts a temperature setting, so answers can vary between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 RAG answered 100 percent of the key facts on the eight covered questions. Both baselines got 12.5 percent, and that's only the public EPSG question; every GridLine-specific question was out of reach without the docs. Retrieval found the right file for all eight covered questions, RAG said 'not in the docs' for both uncovered ones, and those RAG scores were identical across all four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surprise. I expected the model alone to make things up with confidence. It didn't: it always said first that it didn't know GridLine. But when it wasn't told it could decline, it often followed with a 'typical' value, and every one was wrong here. RET 'most likely' means retired, which is exactly the trap; a half-meter-plus tolerance, over six times Prairie Wind's 0.25 feet; and span lengths the docs never mention. Because each guess opened by saying it had no information about GridLine, my automatic scorer counted them as abstentions. Only reading the answers caught them: two to five per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worked, with a close call. On the phase-code question, the right file came back fourth of four, so retrieving only three chunks would have missed it. This chart shows how close each question's best match was. The two questions the docs don't cover, in amber, sit clearly farther away than every covered question, which suggests a distance cutoff could say 'not in the docs' before calling the model at all. With two cases, that's a hint, not proof. I also tried Multi-Query retrieval from the tutorial; on a corpus this small it found the same files and just added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ten questions show behavior but aren't a benchmark. The docs are synthetic and clean, and since I wrote both the questions and the docs, the wording matches closely. And about 3,900 tokens would fit in a single prompt; RAG really pays off at Confluence scale. Next steps: questions written by analysts, an LLM judge for hallucination, filtering retrieval by cooperative, and pointing the loader at a real documentation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RAG works on private, nonstandard knowledge: 100 percent of key facts with a citation, versus 12.5 percent without the docs. The risk without RAG wasn't confident fabrication; it was polite hedged guesses an analyst could act on. And automatic scoring wasn't enough to catch them. In short, RAG turned a model that could only decline or guess into one that answers with a source you can check.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154680"/>
            <a:ext cx="7132320" cy="914400"/>
          </a:xfrm>
          <a:prstGeom prst="rect">
            <a:avLst/>
          </a:prstGeom>
          <a:noFill/>
          <a:ln/>
        </p:spPr>
        <p:txBody>
          <a:bodyPr wrap="square" rtlCol="0"/>
          <a:lstStyle>
            <a:lvl1pPr indent="0" marL="0">
              <a:buNone/>
              <a:defRPr lang="en-US" sz="2400" dirty="0">
                <a:solidFill>
                  <a:srgbClr val="CFD8E3"/>
                </a:solidFill>
              </a:defRPr>
            </a:lvl1pPr>
          </a:lstStyle>
          <a:p>
            <a:pPr indent="0" marL="0">
              <a:buNone/>
            </a:pPr>
            <a:endParaRPr lang="en-US" sz="2400" dirty="0"/>
          </a:p>
        </p:txBody>
      </p:sp>
      <p:sp>
        <p:nvSpPr>
          <p:cNvPr id="4" name="Text 0"/>
          <p:cNvSpPr/>
          <p:nvPr>
            <p:ph idx="102" type="body" hasCustomPrompt="1"/>
          </p:nvPr>
        </p:nvSpPr>
        <p:spPr>
          <a:xfrm>
            <a:off x="731520" y="5394960"/>
            <a:ext cx="7132320" cy="457200"/>
          </a:xfrm>
          <a:prstGeom prst="rect">
            <a:avLst/>
          </a:prstGeom>
          <a:noFill/>
          <a:ln/>
        </p:spPr>
        <p:txBody>
          <a:bodyPr wrap="square" rtlCol="0"/>
          <a:lstStyle>
            <a:lvl1pPr indent="0" marL="0">
              <a:buNone/>
              <a:defRPr lang="en-US" sz="1400" dirty="0">
                <a:solidFill>
                  <a:srgbClr val="9FB0C8"/>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UtilityRAG  ·  GeoAI 582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1188720"/>
          </a:xfrm>
          <a:prstGeom prst="rect">
            <a:avLst/>
          </a:prstGeom>
          <a:noFill/>
          <a:ln/>
        </p:spPr>
        <p:txBody>
          <a:bodyPr wrap="square" lIns="0" tIns="0" rIns="0" bIns="0" rtlCol="0" anchor="b"/>
          <a:lstStyle/>
          <a:p>
            <a:pPr algn="l" indent="0" marL="0">
              <a:buNone/>
            </a:pPr>
            <a:r>
              <a:rPr lang="en-US" sz="6000" b="1" dirty="0">
                <a:solidFill>
                  <a:schemeClr val="bg1"/>
                </a:solidFill>
              </a:rPr>
              <a:t>UtilityRAG</a:t>
            </a:r>
            <a:endParaRPr lang="en-US" sz="6000" dirty="0"/>
          </a:p>
        </p:txBody>
      </p:sp>
      <p:sp>
        <p:nvSpPr>
          <p:cNvPr id="3" name="Text 0"/>
          <p:cNvSpPr/>
          <p:nvPr>
            <p:ph idx="101" type="body" hasCustomPrompt="1"/>
          </p:nvPr>
        </p:nvSpPr>
        <p:spPr>
          <a:xfrm>
            <a:off x="731520" y="3154680"/>
            <a:ext cx="7132320" cy="914400"/>
          </a:xfrm>
          <a:prstGeom prst="rect">
            <a:avLst/>
          </a:prstGeom>
          <a:noFill/>
          <a:ln/>
        </p:spPr>
        <p:txBody>
          <a:bodyPr wrap="square" lIns="0" tIns="0" rIns="0" bIns="0" rtlCol="0" anchor="t"/>
          <a:lstStyle/>
          <a:p>
            <a:pPr indent="0" marL="0">
              <a:buNone/>
            </a:pPr>
            <a:r>
              <a:rPr lang="en-US" sz="2400" dirty="0">
                <a:solidFill>
                  <a:srgbClr val="CFD8E3"/>
                </a:solidFill>
              </a:rPr>
              <a:t>Answering GIS conversion questions from internal documentation, with citations</a:t>
            </a:r>
            <a:endParaRPr lang="en-US" sz="2400" dirty="0"/>
          </a:p>
        </p:txBody>
      </p:sp>
      <p:sp>
        <p:nvSpPr>
          <p:cNvPr id="4" name="Text 0"/>
          <p:cNvSpPr/>
          <p:nvPr>
            <p:ph idx="102" type="body" hasCustomPrompt="1"/>
          </p:nvPr>
        </p:nvSpPr>
        <p:spPr>
          <a:xfrm>
            <a:off x="731520" y="5394960"/>
            <a:ext cx="7132320" cy="457200"/>
          </a:xfrm>
          <a:prstGeom prst="rect">
            <a:avLst/>
          </a:prstGeom>
          <a:noFill/>
          <a:ln/>
        </p:spPr>
        <p:txBody>
          <a:bodyPr wrap="square" lIns="0" tIns="0" rIns="0" bIns="0" rtlCol="0"/>
          <a:lstStyle/>
          <a:p>
            <a:pPr indent="0" marL="0">
              <a:buNone/>
            </a:pPr>
            <a:r>
              <a:rPr lang="en-US" sz="1400" dirty="0">
                <a:solidFill>
                  <a:srgbClr val="9FB0C8"/>
                </a:solidFill>
              </a:rPr>
              <a:t>Maxx Millstein  ·  GeoAI 582 Final Project  ·  Fall 2026</a:t>
            </a:r>
            <a:endParaRPr lang="en-US" sz="1400" dirty="0"/>
          </a:p>
        </p:txBody>
      </p:sp>
      <p:sp>
        <p:nvSpPr>
          <p:cNvPr id="5" name="bolt icon circle"/>
          <p:cNvSpPr/>
          <p:nvPr/>
        </p:nvSpPr>
        <p:spPr>
          <a:xfrm>
            <a:off x="8732520" y="1783080"/>
            <a:ext cx="2377440" cy="2377440"/>
          </a:xfrm>
          <a:prstGeom prst="ellipse">
            <a:avLst/>
          </a:prstGeom>
          <a:solidFill>
            <a:schemeClr val="accent1"/>
          </a:solidFill>
          <a:ln w="12700">
            <a:solidFill>
              <a:schemeClr val="accent1"/>
            </a:solidFill>
            <a:prstDash val="solid"/>
          </a:ln>
        </p:spPr>
      </p:sp>
      <p:pic>
        <p:nvPicPr>
          <p:cNvPr id="6" name="bolt icon" descr="bolt icon">    </p:cNvPr>
          <p:cNvPicPr>
            <a:picLocks noChangeAspect="1"/>
          </p:cNvPicPr>
          <p:nvPr/>
        </p:nvPicPr>
        <p:blipFill>
          <a:blip r:embed="rId1"/>
          <a:stretch>
            <a:fillRect/>
          </a:stretch>
        </p:blipFill>
        <p:spPr>
          <a:xfrm>
            <a:off x="9326880" y="2377440"/>
            <a:ext cx="1188720" cy="1188720"/>
          </a:xfrm>
          <a:prstGeom prst="rect">
            <a:avLst/>
          </a:prstGeom>
        </p:spPr>
      </p:pic>
      <p:sp>
        <p:nvSpPr>
          <p:cNvPr id="7" name="stack"/>
          <p:cNvSpPr txBox="1"/>
          <p:nvPr/>
        </p:nvSpPr>
        <p:spPr>
          <a:xfrm>
            <a:off x="8138160" y="4434840"/>
            <a:ext cx="3566160" cy="365760"/>
          </a:xfrm>
          <a:prstGeom prst="rect">
            <a:avLst/>
          </a:prstGeom>
          <a:noFill/>
          <a:ln/>
        </p:spPr>
        <p:txBody>
          <a:bodyPr wrap="square" lIns="0" tIns="0" rIns="0" bIns="0" rtlCol="0" anchor="ctr"/>
          <a:lstStyle/>
          <a:p>
            <a:pPr algn="ctr" indent="0" marL="0">
              <a:buNone/>
            </a:pPr>
            <a:r>
              <a:rPr lang="en-US" sz="1400" dirty="0">
                <a:solidFill>
                  <a:srgbClr val="9FB0C8"/>
                </a:solidFill>
              </a:rPr>
              <a:t>LangChain  ·  Voyage AI  ·  Chroma  ·  Claude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TOPIC</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General LLMs don't know your local rules</a:t>
            </a:r>
            <a:endParaRPr lang="en-US" sz="3600" dirty="0"/>
          </a:p>
        </p:txBody>
      </p:sp>
      <p:sp>
        <p:nvSpPr>
          <p:cNvPr id="4" name="public card"/>
          <p:cNvSpPr/>
          <p:nvPr/>
        </p:nvSpPr>
        <p:spPr>
          <a:xfrm>
            <a:off x="548640" y="1645920"/>
            <a:ext cx="5394960" cy="2834640"/>
          </a:xfrm>
          <a:prstGeom prst="roundRect">
            <a:avLst>
              <a:gd name="adj" fmla="val 2581"/>
            </a:avLst>
          </a:prstGeom>
          <a:solidFill>
            <a:schemeClr val="bg2"/>
          </a:solidFill>
          <a:ln w="12700">
            <a:solidFill>
              <a:schemeClr val="bg2"/>
            </a:solidFill>
            <a:prstDash val="solid"/>
          </a:ln>
        </p:spPr>
      </p:sp>
      <p:sp>
        <p:nvSpPr>
          <p:cNvPr id="5" name="globe icon circle"/>
          <p:cNvSpPr/>
          <p:nvPr/>
        </p:nvSpPr>
        <p:spPr>
          <a:xfrm>
            <a:off x="868680" y="1920240"/>
            <a:ext cx="640080" cy="640080"/>
          </a:xfrm>
          <a:prstGeom prst="ellipse">
            <a:avLst/>
          </a:prstGeom>
          <a:solidFill>
            <a:schemeClr val="accent3"/>
          </a:solidFill>
          <a:ln w="12700">
            <a:solidFill>
              <a:schemeClr val="accent3"/>
            </a:solidFill>
            <a:prstDash val="solid"/>
          </a:ln>
        </p:spPr>
      </p:sp>
      <p:pic>
        <p:nvPicPr>
          <p:cNvPr id="6" name="globe icon" descr="globe icon">    </p:cNvPr>
          <p:cNvPicPr>
            <a:picLocks noChangeAspect="1"/>
          </p:cNvPicPr>
          <p:nvPr/>
        </p:nvPicPr>
        <p:blipFill>
          <a:blip r:embed="rId1"/>
          <a:stretch>
            <a:fillRect/>
          </a:stretch>
        </p:blipFill>
        <p:spPr>
          <a:xfrm>
            <a:off x="1028700" y="2080260"/>
            <a:ext cx="320040" cy="320040"/>
          </a:xfrm>
          <a:prstGeom prst="rect">
            <a:avLst/>
          </a:prstGeom>
        </p:spPr>
      </p:pic>
      <p:sp>
        <p:nvSpPr>
          <p:cNvPr id="7" name="Text 4"/>
          <p:cNvSpPr txBox="1"/>
          <p:nvPr/>
        </p:nvSpPr>
        <p:spPr>
          <a:xfrm>
            <a:off x="1691640" y="1965960"/>
            <a:ext cx="4023360" cy="548640"/>
          </a:xfrm>
          <a:prstGeom prst="rect">
            <a:avLst/>
          </a:prstGeom>
          <a:noFill/>
          <a:ln/>
        </p:spPr>
        <p:txBody>
          <a:bodyPr wrap="square" lIns="0" tIns="0" rIns="0" bIns="0" rtlCol="0" anchor="ctr"/>
          <a:lstStyle/>
          <a:p>
            <a:pPr indent="0" marL="0">
              <a:buNone/>
            </a:pPr>
            <a:r>
              <a:rPr lang="en-US" sz="2200" b="1" dirty="0">
                <a:solidFill>
                  <a:schemeClr val="tx1"/>
                </a:solidFill>
              </a:rPr>
              <a:t>A general LLM knows</a:t>
            </a:r>
            <a:endParaRPr lang="en-US" sz="2200" dirty="0"/>
          </a:p>
        </p:txBody>
      </p:sp>
      <p:sp>
        <p:nvSpPr>
          <p:cNvPr id="8" name="Text 5"/>
          <p:cNvSpPr txBox="1"/>
          <p:nvPr/>
        </p:nvSpPr>
        <p:spPr>
          <a:xfrm>
            <a:off x="868680" y="2788920"/>
            <a:ext cx="4846320" cy="1920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Esri utility data models</a:t>
            </a:r>
            <a:endParaRPr lang="en-US" sz="1800" dirty="0"/>
          </a:p>
          <a:p>
            <a:pPr marL="342900" indent="-342900">
              <a:spcAft>
                <a:spcPts val="1000"/>
              </a:spcAft>
              <a:buSzPct val="100000"/>
              <a:buChar char="•"/>
            </a:pPr>
            <a:r>
              <a:rPr lang="en-US" sz="1800" dirty="0">
                <a:solidFill>
                  <a:schemeClr val="tx1"/>
                </a:solidFill>
              </a:rPr>
              <a:t>Projections and EPSG codes</a:t>
            </a:r>
            <a:endParaRPr lang="en-US" sz="1800" dirty="0"/>
          </a:p>
          <a:p>
            <a:pPr marL="342900" indent="-342900">
              <a:spcAft>
                <a:spcPts val="1000"/>
              </a:spcAft>
              <a:buSzPct val="100000"/>
              <a:buChar char="•"/>
            </a:pPr>
            <a:r>
              <a:rPr lang="en-US" sz="1800" dirty="0">
                <a:solidFill>
                  <a:schemeClr val="tx1"/>
                </a:solidFill>
              </a:rPr>
              <a:t>ArcPy and standard geoprocessing</a:t>
            </a:r>
            <a:endParaRPr lang="en-US" sz="1800" dirty="0"/>
          </a:p>
        </p:txBody>
      </p:sp>
      <p:sp>
        <p:nvSpPr>
          <p:cNvPr id="9" name="private card"/>
          <p:cNvSpPr/>
          <p:nvPr/>
        </p:nvSpPr>
        <p:spPr>
          <a:xfrm>
            <a:off x="6263640" y="1645920"/>
            <a:ext cx="5349240" cy="2834640"/>
          </a:xfrm>
          <a:prstGeom prst="roundRect">
            <a:avLst>
              <a:gd name="adj" fmla="val 2581"/>
            </a:avLst>
          </a:prstGeom>
          <a:solidFill>
            <a:srgbClr val="FFF4D6"/>
          </a:solidFill>
          <a:ln w="12700">
            <a:solidFill>
              <a:srgbClr val="FFF4D6"/>
            </a:solidFill>
            <a:prstDash val="solid"/>
          </a:ln>
        </p:spPr>
      </p:sp>
      <p:sp>
        <p:nvSpPr>
          <p:cNvPr id="10" name="lock icon circle"/>
          <p:cNvSpPr/>
          <p:nvPr/>
        </p:nvSpPr>
        <p:spPr>
          <a:xfrm>
            <a:off x="6583680" y="1920240"/>
            <a:ext cx="640080" cy="640080"/>
          </a:xfrm>
          <a:prstGeom prst="ellipse">
            <a:avLst/>
          </a:prstGeom>
          <a:solidFill>
            <a:schemeClr val="accent1"/>
          </a:solidFill>
          <a:ln w="12700">
            <a:solidFill>
              <a:schemeClr val="accent1"/>
            </a:solidFill>
            <a:prstDash val="solid"/>
          </a:ln>
        </p:spPr>
      </p:sp>
      <p:pic>
        <p:nvPicPr>
          <p:cNvPr id="11" name="lock icon" descr="lock icon">    </p:cNvPr>
          <p:cNvPicPr>
            <a:picLocks noChangeAspect="1"/>
          </p:cNvPicPr>
          <p:nvPr/>
        </p:nvPicPr>
        <p:blipFill>
          <a:blip r:embed="rId2"/>
          <a:stretch>
            <a:fillRect/>
          </a:stretch>
        </p:blipFill>
        <p:spPr>
          <a:xfrm>
            <a:off x="6743700" y="2080260"/>
            <a:ext cx="320040" cy="320040"/>
          </a:xfrm>
          <a:prstGeom prst="rect">
            <a:avLst/>
          </a:prstGeom>
        </p:spPr>
      </p:pic>
      <p:sp>
        <p:nvSpPr>
          <p:cNvPr id="12" name="Text 8"/>
          <p:cNvSpPr txBox="1"/>
          <p:nvPr/>
        </p:nvSpPr>
        <p:spPr>
          <a:xfrm>
            <a:off x="7406640" y="1965960"/>
            <a:ext cx="4023360" cy="548640"/>
          </a:xfrm>
          <a:prstGeom prst="rect">
            <a:avLst/>
          </a:prstGeom>
          <a:noFill/>
          <a:ln/>
        </p:spPr>
        <p:txBody>
          <a:bodyPr wrap="square" lIns="0" tIns="0" rIns="0" bIns="0" rtlCol="0" anchor="ctr"/>
          <a:lstStyle/>
          <a:p>
            <a:pPr indent="0" marL="0">
              <a:buNone/>
            </a:pPr>
            <a:r>
              <a:rPr lang="en-US" sz="2200" b="1" dirty="0">
                <a:solidFill>
                  <a:schemeClr val="tx1"/>
                </a:solidFill>
              </a:rPr>
              <a:t>Only our docs know</a:t>
            </a:r>
            <a:endParaRPr lang="en-US" sz="2200" dirty="0"/>
          </a:p>
        </p:txBody>
      </p:sp>
      <p:sp>
        <p:nvSpPr>
          <p:cNvPr id="13" name="Text 9"/>
          <p:cNvSpPr txBox="1"/>
          <p:nvPr/>
        </p:nvSpPr>
        <p:spPr>
          <a:xfrm>
            <a:off x="6583680" y="2788920"/>
            <a:ext cx="4846320" cy="1920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Phase AC is coded 22, not a bitmask</a:t>
            </a:r>
            <a:endParaRPr lang="en-US" sz="1800" dirty="0"/>
          </a:p>
          <a:p>
            <a:pPr marL="342900" indent="-342900">
              <a:spcAft>
                <a:spcPts val="1000"/>
              </a:spcAft>
              <a:buSzPct val="100000"/>
              <a:buChar char="•"/>
            </a:pPr>
            <a:r>
              <a:rPr lang="en-US" sz="1800" dirty="0">
                <a:solidFill>
                  <a:schemeClr val="tx1"/>
                </a:solidFill>
              </a:rPr>
              <a:t>“RET” means out of service at one co-op</a:t>
            </a:r>
            <a:endParaRPr lang="en-US" sz="1800" dirty="0"/>
          </a:p>
          <a:p>
            <a:pPr marL="342900" indent="-342900">
              <a:spcAft>
                <a:spcPts val="1000"/>
              </a:spcAft>
              <a:buSzPct val="100000"/>
              <a:buChar char="•"/>
            </a:pPr>
            <a:r>
              <a:rPr lang="en-US" sz="1800" dirty="0">
                <a:solidFill>
                  <a:schemeClr val="tx1"/>
                </a:solidFill>
              </a:rPr>
              <a:t>Prairie Wind snaps at 0.25 ft, not 0.04 ft</a:t>
            </a:r>
            <a:endParaRPr lang="en-US" sz="1800" dirty="0"/>
          </a:p>
        </p:txBody>
      </p:sp>
      <p:sp>
        <p:nvSpPr>
          <p:cNvPr id="14" name="question band"/>
          <p:cNvSpPr/>
          <p:nvPr/>
        </p:nvSpPr>
        <p:spPr>
          <a:xfrm>
            <a:off x="548640" y="4800600"/>
            <a:ext cx="11064240" cy="1234440"/>
          </a:xfrm>
          <a:prstGeom prst="roundRect">
            <a:avLst>
              <a:gd name="adj" fmla="val 5926"/>
            </a:avLst>
          </a:prstGeom>
          <a:solidFill>
            <a:schemeClr val="tx1"/>
          </a:solidFill>
          <a:ln w="12700">
            <a:solidFill>
              <a:schemeClr val="tx1"/>
            </a:solidFill>
            <a:prstDash val="solid"/>
          </a:ln>
        </p:spPr>
      </p:sp>
      <p:sp>
        <p:nvSpPr>
          <p:cNvPr id="15" name="Text 11"/>
          <p:cNvSpPr txBox="1"/>
          <p:nvPr/>
        </p:nvSpPr>
        <p:spPr>
          <a:xfrm>
            <a:off x="868680" y="4800600"/>
            <a:ext cx="10424160" cy="1234440"/>
          </a:xfrm>
          <a:prstGeom prst="rect">
            <a:avLst/>
          </a:prstGeom>
          <a:noFill/>
          <a:ln/>
        </p:spPr>
        <p:txBody>
          <a:bodyPr wrap="square" lIns="0" tIns="0" rIns="0" bIns="0" rtlCol="0" anchor="ctr"/>
          <a:lstStyle/>
          <a:p>
            <a:pPr indent="0" marL="0">
              <a:buNone/>
            </a:pPr>
            <a:r>
              <a:rPr lang="en-US" sz="2000" b="1" dirty="0">
                <a:solidFill>
                  <a:srgbClr val="F2A900"/>
                </a:solidFill>
              </a:rPr>
              <a:t>Research question: </a:t>
            </a:r>
            <a:pPr indent="0" marL="0">
              <a:buNone/>
            </a:pPr>
            <a:r>
              <a:rPr lang="en-US" sz="2000" dirty="0">
                <a:solidFill>
                  <a:schemeClr val="bg1"/>
                </a:solidFill>
              </a:rPr>
              <a:t>can RAG answer from the docs, cite the source, and admit when the docs don't cover a question?</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TOPIC</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Why RAG instead of fine-tuning</a:t>
            </a:r>
            <a:endParaRPr lang="en-US" sz="3600" dirty="0"/>
          </a:p>
        </p:txBody>
      </p:sp>
      <p:sp>
        <p:nvSpPr>
          <p:cNvPr id="4" name="reason 1"/>
          <p:cNvSpPr/>
          <p:nvPr/>
        </p:nvSpPr>
        <p:spPr>
          <a:xfrm>
            <a:off x="548640" y="1691640"/>
            <a:ext cx="3474720" cy="3291840"/>
          </a:xfrm>
          <a:prstGeom prst="roundRect">
            <a:avLst>
              <a:gd name="adj" fmla="val 2222"/>
            </a:avLst>
          </a:prstGeom>
          <a:solidFill>
            <a:schemeClr val="bg2"/>
          </a:solidFill>
          <a:ln w="12700">
            <a:solidFill>
              <a:schemeClr val="bg2"/>
            </a:solidFill>
            <a:prstDash val="solid"/>
          </a:ln>
        </p:spPr>
      </p:sp>
      <p:sp>
        <p:nvSpPr>
          <p:cNvPr id="5" name="Private icon circle"/>
          <p:cNvSpPr/>
          <p:nvPr/>
        </p:nvSpPr>
        <p:spPr>
          <a:xfrm>
            <a:off x="868680" y="2011680"/>
            <a:ext cx="777240" cy="777240"/>
          </a:xfrm>
          <a:prstGeom prst="ellipse">
            <a:avLst/>
          </a:prstGeom>
          <a:solidFill>
            <a:schemeClr val="accent1"/>
          </a:solidFill>
          <a:ln w="12700">
            <a:solidFill>
              <a:schemeClr val="accent1"/>
            </a:solidFill>
            <a:prstDash val="solid"/>
          </a:ln>
        </p:spPr>
      </p:sp>
      <p:pic>
        <p:nvPicPr>
          <p:cNvPr id="6" name="Private icon" descr="Private icon">    </p:cNvPr>
          <p:cNvPicPr>
            <a:picLocks noChangeAspect="1"/>
          </p:cNvPicPr>
          <p:nvPr/>
        </p:nvPicPr>
        <p:blipFill>
          <a:blip r:embed="rId1"/>
          <a:stretch>
            <a:fillRect/>
          </a:stretch>
        </p:blipFill>
        <p:spPr>
          <a:xfrm>
            <a:off x="1062990" y="2205990"/>
            <a:ext cx="388620" cy="388620"/>
          </a:xfrm>
          <a:prstGeom prst="rect">
            <a:avLst/>
          </a:prstGeom>
        </p:spPr>
      </p:pic>
      <p:sp>
        <p:nvSpPr>
          <p:cNvPr id="7" name="Text 4"/>
          <p:cNvSpPr txBox="1"/>
          <p:nvPr/>
        </p:nvSpPr>
        <p:spPr>
          <a:xfrm>
            <a:off x="868680" y="2971800"/>
            <a:ext cx="2834640" cy="457200"/>
          </a:xfrm>
          <a:prstGeom prst="rect">
            <a:avLst/>
          </a:prstGeom>
          <a:noFill/>
          <a:ln/>
        </p:spPr>
        <p:txBody>
          <a:bodyPr wrap="square" lIns="0" tIns="0" rIns="0" bIns="0" rtlCol="0" anchor="ctr"/>
          <a:lstStyle/>
          <a:p>
            <a:pPr indent="0" marL="0">
              <a:buNone/>
            </a:pPr>
            <a:r>
              <a:rPr lang="en-US" sz="2200" b="1" dirty="0">
                <a:solidFill>
                  <a:schemeClr val="tx1"/>
                </a:solidFill>
              </a:rPr>
              <a:t>Private</a:t>
            </a:r>
            <a:endParaRPr lang="en-US" sz="2200" dirty="0"/>
          </a:p>
        </p:txBody>
      </p:sp>
      <p:sp>
        <p:nvSpPr>
          <p:cNvPr id="8" name="Text 5"/>
          <p:cNvSpPr txBox="1"/>
          <p:nvPr/>
        </p:nvSpPr>
        <p:spPr>
          <a:xfrm>
            <a:off x="868680" y="3474720"/>
            <a:ext cx="2834640" cy="1325880"/>
          </a:xfrm>
          <a:prstGeom prst="rect">
            <a:avLst/>
          </a:prstGeom>
          <a:noFill/>
          <a:ln/>
        </p:spPr>
        <p:txBody>
          <a:bodyPr wrap="square" lIns="0" tIns="0" rIns="0" bIns="0" rtlCol="0" anchor="t"/>
          <a:lstStyle/>
          <a:p>
            <a:pPr indent="0" marL="0">
              <a:buNone/>
            </a:pPr>
            <a:r>
              <a:rPr lang="en-US" sz="1600" dirty="0">
                <a:solidFill>
                  <a:schemeClr val="tx1"/>
                </a:solidFill>
              </a:rPr>
              <a:t>Schemas, codes and thresholds live in internal docs, not on the public web.</a:t>
            </a:r>
            <a:endParaRPr lang="en-US" sz="1600" dirty="0"/>
          </a:p>
        </p:txBody>
      </p:sp>
      <p:sp>
        <p:nvSpPr>
          <p:cNvPr id="9" name="reason 2"/>
          <p:cNvSpPr/>
          <p:nvPr/>
        </p:nvSpPr>
        <p:spPr>
          <a:xfrm>
            <a:off x="4297680" y="1691640"/>
            <a:ext cx="3474720" cy="3291840"/>
          </a:xfrm>
          <a:prstGeom prst="roundRect">
            <a:avLst>
              <a:gd name="adj" fmla="val 2222"/>
            </a:avLst>
          </a:prstGeom>
          <a:solidFill>
            <a:schemeClr val="bg2"/>
          </a:solidFill>
          <a:ln w="12700">
            <a:solidFill>
              <a:schemeClr val="bg2"/>
            </a:solidFill>
            <a:prstDash val="solid"/>
          </a:ln>
        </p:spPr>
      </p:sp>
      <p:sp>
        <p:nvSpPr>
          <p:cNvPr id="10" name="Changing icon circle"/>
          <p:cNvSpPr/>
          <p:nvPr/>
        </p:nvSpPr>
        <p:spPr>
          <a:xfrm>
            <a:off x="4617720" y="2011680"/>
            <a:ext cx="777240" cy="777240"/>
          </a:xfrm>
          <a:prstGeom prst="ellipse">
            <a:avLst/>
          </a:prstGeom>
          <a:solidFill>
            <a:schemeClr val="accent1"/>
          </a:solidFill>
          <a:ln w="12700">
            <a:solidFill>
              <a:schemeClr val="accent1"/>
            </a:solidFill>
            <a:prstDash val="solid"/>
          </a:ln>
        </p:spPr>
      </p:sp>
      <p:pic>
        <p:nvPicPr>
          <p:cNvPr id="11" name="Changing icon" descr="Changing icon">    </p:cNvPr>
          <p:cNvPicPr>
            <a:picLocks noChangeAspect="1"/>
          </p:cNvPicPr>
          <p:nvPr/>
        </p:nvPicPr>
        <p:blipFill>
          <a:blip r:embed="rId2"/>
          <a:stretch>
            <a:fillRect/>
          </a:stretch>
        </p:blipFill>
        <p:spPr>
          <a:xfrm>
            <a:off x="4812030" y="2205990"/>
            <a:ext cx="388620" cy="388620"/>
          </a:xfrm>
          <a:prstGeom prst="rect">
            <a:avLst/>
          </a:prstGeom>
        </p:spPr>
      </p:pic>
      <p:sp>
        <p:nvSpPr>
          <p:cNvPr id="12" name="Text 8"/>
          <p:cNvSpPr txBox="1"/>
          <p:nvPr/>
        </p:nvSpPr>
        <p:spPr>
          <a:xfrm>
            <a:off x="4617720" y="2971800"/>
            <a:ext cx="2834640" cy="457200"/>
          </a:xfrm>
          <a:prstGeom prst="rect">
            <a:avLst/>
          </a:prstGeom>
          <a:noFill/>
          <a:ln/>
        </p:spPr>
        <p:txBody>
          <a:bodyPr wrap="square" lIns="0" tIns="0" rIns="0" bIns="0" rtlCol="0" anchor="ctr"/>
          <a:lstStyle/>
          <a:p>
            <a:pPr indent="0" marL="0">
              <a:buNone/>
            </a:pPr>
            <a:r>
              <a:rPr lang="en-US" sz="2200" b="1" dirty="0">
                <a:solidFill>
                  <a:schemeClr val="tx1"/>
                </a:solidFill>
              </a:rPr>
              <a:t>Changing</a:t>
            </a:r>
            <a:endParaRPr lang="en-US" sz="2200" dirty="0"/>
          </a:p>
        </p:txBody>
      </p:sp>
      <p:sp>
        <p:nvSpPr>
          <p:cNvPr id="13" name="Text 9"/>
          <p:cNvSpPr txBox="1"/>
          <p:nvPr/>
        </p:nvSpPr>
        <p:spPr>
          <a:xfrm>
            <a:off x="4617720" y="3474720"/>
            <a:ext cx="2834640" cy="1325880"/>
          </a:xfrm>
          <a:prstGeom prst="rect">
            <a:avLst/>
          </a:prstGeom>
          <a:noFill/>
          <a:ln/>
        </p:spPr>
        <p:txBody>
          <a:bodyPr wrap="square" lIns="0" tIns="0" rIns="0" bIns="0" rtlCol="0" anchor="t"/>
          <a:lstStyle/>
          <a:p>
            <a:pPr indent="0" marL="0">
              <a:buNone/>
            </a:pPr>
            <a:r>
              <a:rPr lang="en-US" sz="1600" dirty="0">
                <a:solidFill>
                  <a:schemeClr val="tx1"/>
                </a:solidFill>
              </a:rPr>
              <a:t>Standards get revised (QA Rev 6 → Rev 7). Re-indexing takes seconds; retraining goes stale.</a:t>
            </a:r>
            <a:endParaRPr lang="en-US" sz="1600" dirty="0"/>
          </a:p>
        </p:txBody>
      </p:sp>
      <p:sp>
        <p:nvSpPr>
          <p:cNvPr id="14" name="reason 3"/>
          <p:cNvSpPr/>
          <p:nvPr/>
        </p:nvSpPr>
        <p:spPr>
          <a:xfrm>
            <a:off x="8046720" y="1691640"/>
            <a:ext cx="3474720" cy="3291840"/>
          </a:xfrm>
          <a:prstGeom prst="roundRect">
            <a:avLst>
              <a:gd name="adj" fmla="val 2222"/>
            </a:avLst>
          </a:prstGeom>
          <a:solidFill>
            <a:schemeClr val="bg2"/>
          </a:solidFill>
          <a:ln w="12700">
            <a:solidFill>
              <a:schemeClr val="bg2"/>
            </a:solidFill>
            <a:prstDash val="solid"/>
          </a:ln>
        </p:spPr>
      </p:sp>
      <p:sp>
        <p:nvSpPr>
          <p:cNvPr id="15" name="Traceable icon circle"/>
          <p:cNvSpPr/>
          <p:nvPr/>
        </p:nvSpPr>
        <p:spPr>
          <a:xfrm>
            <a:off x="8366760" y="2011680"/>
            <a:ext cx="777240" cy="777240"/>
          </a:xfrm>
          <a:prstGeom prst="ellipse">
            <a:avLst/>
          </a:prstGeom>
          <a:solidFill>
            <a:schemeClr val="accent1"/>
          </a:solidFill>
          <a:ln w="12700">
            <a:solidFill>
              <a:schemeClr val="accent1"/>
            </a:solidFill>
            <a:prstDash val="solid"/>
          </a:ln>
        </p:spPr>
      </p:sp>
      <p:pic>
        <p:nvPicPr>
          <p:cNvPr id="16" name="Traceable icon" descr="Traceable icon">    </p:cNvPr>
          <p:cNvPicPr>
            <a:picLocks noChangeAspect="1"/>
          </p:cNvPicPr>
          <p:nvPr/>
        </p:nvPicPr>
        <p:blipFill>
          <a:blip r:embed="rId3"/>
          <a:stretch>
            <a:fillRect/>
          </a:stretch>
        </p:blipFill>
        <p:spPr>
          <a:xfrm>
            <a:off x="8561070" y="2205990"/>
            <a:ext cx="388620" cy="388620"/>
          </a:xfrm>
          <a:prstGeom prst="rect">
            <a:avLst/>
          </a:prstGeom>
        </p:spPr>
      </p:pic>
      <p:sp>
        <p:nvSpPr>
          <p:cNvPr id="17" name="Text 12"/>
          <p:cNvSpPr txBox="1"/>
          <p:nvPr/>
        </p:nvSpPr>
        <p:spPr>
          <a:xfrm>
            <a:off x="8366760" y="2971800"/>
            <a:ext cx="2834640" cy="457200"/>
          </a:xfrm>
          <a:prstGeom prst="rect">
            <a:avLst/>
          </a:prstGeom>
          <a:noFill/>
          <a:ln/>
        </p:spPr>
        <p:txBody>
          <a:bodyPr wrap="square" lIns="0" tIns="0" rIns="0" bIns="0" rtlCol="0" anchor="ctr"/>
          <a:lstStyle/>
          <a:p>
            <a:pPr indent="0" marL="0">
              <a:buNone/>
            </a:pPr>
            <a:r>
              <a:rPr lang="en-US" sz="2200" b="1" dirty="0">
                <a:solidFill>
                  <a:schemeClr val="tx1"/>
                </a:solidFill>
              </a:rPr>
              <a:t>Traceable</a:t>
            </a:r>
            <a:endParaRPr lang="en-US" sz="2200" dirty="0"/>
          </a:p>
        </p:txBody>
      </p:sp>
      <p:sp>
        <p:nvSpPr>
          <p:cNvPr id="18" name="Text 13"/>
          <p:cNvSpPr txBox="1"/>
          <p:nvPr/>
        </p:nvSpPr>
        <p:spPr>
          <a:xfrm>
            <a:off x="8366760" y="3474720"/>
            <a:ext cx="2834640" cy="1325880"/>
          </a:xfrm>
          <a:prstGeom prst="rect">
            <a:avLst/>
          </a:prstGeom>
          <a:noFill/>
          <a:ln/>
        </p:spPr>
        <p:txBody>
          <a:bodyPr wrap="square" lIns="0" tIns="0" rIns="0" bIns="0" rtlCol="0" anchor="t"/>
          <a:lstStyle/>
          <a:p>
            <a:pPr indent="0" marL="0">
              <a:buNone/>
            </a:pPr>
            <a:r>
              <a:rPr lang="en-US" sz="1600" dirty="0">
                <a:solidFill>
                  <a:schemeClr val="tx1"/>
                </a:solidFill>
              </a:rPr>
              <a:t>Analysts need the source page. RAG can cite the file; a fine-tuned model can't.</a:t>
            </a:r>
            <a:endParaRPr lang="en-US" sz="1600" dirty="0"/>
          </a:p>
        </p:txBody>
      </p:sp>
      <p:sp>
        <p:nvSpPr>
          <p:cNvPr id="19" name="Text 14"/>
          <p:cNvSpPr txBox="1"/>
          <p:nvPr/>
        </p:nvSpPr>
        <p:spPr>
          <a:xfrm>
            <a:off x="548640" y="5303520"/>
            <a:ext cx="11064240" cy="731520"/>
          </a:xfrm>
          <a:prstGeom prst="rect">
            <a:avLst/>
          </a:prstGeom>
          <a:noFill/>
          <a:ln/>
        </p:spPr>
        <p:txBody>
          <a:bodyPr wrap="square" lIns="0" tIns="0" rIns="0" bIns="0" rtlCol="0" anchor="ctr"/>
          <a:lstStyle/>
          <a:p>
            <a:pPr indent="0" marL="0">
              <a:buNone/>
            </a:pPr>
            <a:r>
              <a:rPr lang="en-US" sz="1600" b="1" dirty="0">
                <a:solidFill>
                  <a:schemeClr val="accent4"/>
                </a:solidFill>
              </a:rPr>
              <a:t>Not the right tool for: </a:t>
            </a:r>
            <a:pPr indent="0" marL="0">
              <a:buNone/>
            </a:pPr>
            <a:r>
              <a:rPr lang="en-US" sz="1600" dirty="0">
                <a:solidFill>
                  <a:schemeClr val="tx1"/>
                </a:solidFill>
              </a:rPr>
              <a:t>questions about the data itself (counts, current values) or spatial reasoning over geometry. Those need database or PostGIS queries.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METHODOLOGY AND TOOLS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A synthetic corpus built to defeat guessing</a:t>
            </a:r>
            <a:endParaRPr lang="en-US" sz="3600" dirty="0"/>
          </a:p>
        </p:txBody>
      </p:sp>
      <p:sp>
        <p:nvSpPr>
          <p:cNvPr id="4" name="Text 2"/>
          <p:cNvSpPr txBox="1"/>
          <p:nvPr/>
        </p:nvSpPr>
        <p:spPr>
          <a:xfrm>
            <a:off x="548640" y="1600200"/>
            <a:ext cx="6035040" cy="822960"/>
          </a:xfrm>
          <a:prstGeom prst="rect">
            <a:avLst/>
          </a:prstGeom>
          <a:noFill/>
          <a:ln/>
        </p:spPr>
        <p:txBody>
          <a:bodyPr wrap="square" lIns="0" tIns="0" rIns="0" bIns="0" rtlCol="0" anchor="t"/>
          <a:lstStyle/>
          <a:p>
            <a:pPr indent="0" marL="0">
              <a:buNone/>
            </a:pPr>
            <a:r>
              <a:rPr lang="en-US" sz="1600" dirty="0">
                <a:solidFill>
                  <a:schemeClr val="tx1"/>
                </a:solidFill>
              </a:rPr>
              <a:t>12 Markdown docs for a fictional conversion team and three fictional co-ops (about 3,900 tokens). Values are set by hand to be nonstandard:</a:t>
            </a:r>
            <a:endParaRPr lang="en-US" sz="1600" dirty="0"/>
          </a:p>
        </p:txBody>
      </p:sp>
      <p:graphicFrame>
        <p:nvGraphicFramePr>
          <p:cNvPr id="5" name="trap table"/>
          <p:cNvGraphicFramePr>
            <a:graphicFrameLocks noGrp="1"/>
          </p:cNvGraphicFramePr>
          <p:nvPr>
            <p:extLst>
              <p:ext uri="{D42A27DB-BD31-4B8C-83A1-F6EECF244321}">
                <p14:modId xmlns:p14="http://schemas.microsoft.com/office/powerpoint/2010/main" val="1579011935"/>
              </p:ext>
            </p:extLst>
          </p:nvPr>
        </p:nvGraphicFramePr>
        <p:xfrm>
          <a:off x="548640" y="2514600"/>
          <a:ext cx="6035040" cy="914400"/>
        </p:xfrm>
        <a:graphic>
          <a:graphicData uri="http://schemas.openxmlformats.org/drawingml/2006/table">
            <a:tbl>
              <a:tblPr/>
              <a:tblGrid>
                <a:gridCol w="2377440"/>
                <a:gridCol w="1920240"/>
                <a:gridCol w="1737360"/>
              </a:tblGrid>
              <a:tr h="457200">
                <a:tc>
                  <a:txBody>
                    <a:bodyPr/>
                    <a:lstStyle/>
                    <a:p>
                      <a:pPr indent="0" marL="0">
                        <a:buNone/>
                      </a:pPr>
                      <a:r>
                        <a:rPr lang="en-US" sz="1500" b="1" dirty="0">
                          <a:solidFill>
                            <a:schemeClr val="bg1"/>
                          </a:solidFill>
                        </a:rPr>
                        <a:t>Rule</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GridLine docs</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Likely guess</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tr>
              <a:tr h="457200">
                <a:tc>
                  <a:txBody>
                    <a:bodyPr/>
                    <a:lstStyle/>
                    <a:p>
                      <a:pPr indent="0" marL="0">
                        <a:buNone/>
                      </a:pPr>
                      <a:r>
                        <a:rPr lang="en-US" sz="1500" dirty="0">
                          <a:solidFill>
                            <a:schemeClr val="tx1"/>
                          </a:solidFill>
                        </a:rPr>
                        <a:t>Phase code for AC</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22</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AC, or bitmask 5</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r h="457200">
                <a:tc>
                  <a:txBody>
                    <a:bodyPr/>
                    <a:lstStyle/>
                    <a:p>
                      <a:pPr indent="0" marL="0">
                        <a:buNone/>
                      </a:pPr>
                      <a:r>
                        <a:rPr lang="en-US" sz="1500" dirty="0">
                          <a:solidFill>
                            <a:schemeClr val="tx1"/>
                          </a:solidFill>
                        </a:rPr>
                        <a:t>Source status RET</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Out of service</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Retired</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r h="457200">
                <a:tc>
                  <a:txBody>
                    <a:bodyPr/>
                    <a:lstStyle/>
                    <a:p>
                      <a:pPr indent="0" marL="0">
                        <a:buNone/>
                      </a:pPr>
                      <a:r>
                        <a:rPr lang="en-US" sz="1500" dirty="0">
                          <a:solidFill>
                            <a:schemeClr val="tx1"/>
                          </a:solidFill>
                        </a:rPr>
                        <a:t>Unparseable voltage</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-77</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NULL or -1</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r h="457200">
                <a:tc>
                  <a:txBody>
                    <a:bodyPr/>
                    <a:lstStyle/>
                    <a:p>
                      <a:pPr indent="0" marL="0">
                        <a:buNone/>
                      </a:pPr>
                      <a:r>
                        <a:rPr lang="en-US" sz="1500" dirty="0">
                          <a:solidFill>
                            <a:schemeClr val="tx1"/>
                          </a:solidFill>
                        </a:rPr>
                        <a:t>Prairie Wind snap tolerance</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0.25 ft (exception)</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Default 0.04 ft</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48640" y="5120640"/>
            <a:ext cx="6035040" cy="822960"/>
          </a:xfrm>
          <a:prstGeom prst="rect">
            <a:avLst/>
          </a:prstGeom>
          <a:noFill/>
          <a:ln/>
        </p:spPr>
        <p:txBody>
          <a:bodyPr wrap="square" lIns="0" tIns="0" rIns="0" bIns="0" rtlCol="0" anchor="t"/>
          <a:lstStyle/>
          <a:p>
            <a:pPr indent="0" marL="0">
              <a:buNone/>
            </a:pPr>
            <a:r>
              <a:rPr lang="en-US" sz="1400" i="1" dirty="0">
                <a:solidFill>
                  <a:schemeClr val="accent6"/>
                </a:solidFill>
              </a:rPr>
              <a:t>Co-op pages override general defaults, and the QA doc still mentions an outdated Rev 6 value, so retrieval has to find the right page.</a:t>
            </a:r>
            <a:endParaRPr lang="en-US" sz="1400" dirty="0"/>
          </a:p>
        </p:txBody>
      </p:sp>
      <p:sp>
        <p:nvSpPr>
          <p:cNvPr id="7" name="doc excerpt card"/>
          <p:cNvSpPr/>
          <p:nvPr/>
        </p:nvSpPr>
        <p:spPr>
          <a:xfrm>
            <a:off x="6949440" y="1600200"/>
            <a:ext cx="4663440" cy="2971800"/>
          </a:xfrm>
          <a:prstGeom prst="roundRect">
            <a:avLst>
              <a:gd name="adj" fmla="val 2462"/>
            </a:avLst>
          </a:prstGeom>
          <a:solidFill>
            <a:schemeClr val="tx2"/>
          </a:solidFill>
          <a:ln w="12700">
            <a:solidFill>
              <a:schemeClr val="tx2"/>
            </a:solidFill>
            <a:prstDash val="solid"/>
          </a:ln>
        </p:spPr>
      </p:sp>
      <p:sp>
        <p:nvSpPr>
          <p:cNvPr id="8" name="doc excerpt file"/>
          <p:cNvSpPr txBox="1"/>
          <p:nvPr/>
        </p:nvSpPr>
        <p:spPr>
          <a:xfrm>
            <a:off x="7223760" y="1764792"/>
            <a:ext cx="411480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docs/08_coop_prairie_wind.md</a:t>
            </a:r>
            <a:endParaRPr lang="en-US" sz="1200" dirty="0"/>
          </a:p>
        </p:txBody>
      </p:sp>
      <p:sp>
        <p:nvSpPr>
          <p:cNvPr id="9" name="doc excerpt text"/>
          <p:cNvSpPr txBox="1"/>
          <p:nvPr/>
        </p:nvSpPr>
        <p:spPr>
          <a:xfrm>
            <a:off x="7223760" y="2148840"/>
            <a:ext cx="4114800" cy="2240280"/>
          </a:xfrm>
          <a:prstGeom prst="rect">
            <a:avLst/>
          </a:prstGeom>
          <a:noFill/>
          <a:ln/>
        </p:spPr>
        <p:txBody>
          <a:bodyPr wrap="square" lIns="0" tIns="0" rIns="0" bIns="0" rtlCol="0" anchor="t"/>
          <a:lstStyle/>
          <a:p>
            <a:pPr indent="0" marL="0">
              <a:lnSpc>
                <a:spcPct val="100000"/>
              </a:lnSpc>
              <a:buNone/>
            </a:pPr>
            <a:r>
              <a:rPr lang="en-US" sz="1300" b="1" dirty="0">
                <a:solidFill>
                  <a:srgbClr val="F2A900"/>
                </a:solidFill>
                <a:latin typeface="Courier New" pitchFamily="34" charset="0"/>
                <a:ea typeface="Courier New" pitchFamily="34" charset="-122"/>
                <a:cs typeface="Courier New" pitchFamily="34" charset="-120"/>
              </a:rPr>
              <a:t>## QA Exceptions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b="1" dirty="0">
                <a:solidFill>
                  <a:srgbClr val="F2A900"/>
                </a:solidFill>
                <a:latin typeface="Courier New" pitchFamily="34" charset="0"/>
                <a:ea typeface="Courier New" pitchFamily="34" charset="-122"/>
                <a:cs typeface="Courier New" pitchFamily="34" charset="-120"/>
              </a:rPr>
              <a:t>### Snapping Tolerance</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Because the PWRE network was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digitized from paper, endpoints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are rarely coincident. PWRE uses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 **snapping tolerance of</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0.25 ft** instead of the</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Revision 7 default.</a:t>
            </a:r>
            <a:endParaRPr lang="en-US" sz="1300" dirty="0"/>
          </a:p>
        </p:txBody>
      </p:sp>
      <p:sp>
        <p:nvSpPr>
          <p:cNvPr id="10" name="codes excerpt card"/>
          <p:cNvSpPr/>
          <p:nvPr/>
        </p:nvSpPr>
        <p:spPr>
          <a:xfrm>
            <a:off x="6949440" y="4800600"/>
            <a:ext cx="4663440" cy="1280160"/>
          </a:xfrm>
          <a:prstGeom prst="roundRect">
            <a:avLst>
              <a:gd name="adj" fmla="val 5714"/>
            </a:avLst>
          </a:prstGeom>
          <a:solidFill>
            <a:schemeClr val="tx2"/>
          </a:solidFill>
          <a:ln w="12700">
            <a:solidFill>
              <a:schemeClr val="tx2"/>
            </a:solidFill>
            <a:prstDash val="solid"/>
          </a:ln>
        </p:spPr>
      </p:sp>
      <p:sp>
        <p:nvSpPr>
          <p:cNvPr id="11" name="codes excerpt file"/>
          <p:cNvSpPr txBox="1"/>
          <p:nvPr/>
        </p:nvSpPr>
        <p:spPr>
          <a:xfrm>
            <a:off x="7223760" y="4965192"/>
            <a:ext cx="411480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docs/02_domain_codes.md</a:t>
            </a:r>
            <a:endParaRPr lang="en-US" sz="1200" dirty="0"/>
          </a:p>
        </p:txBody>
      </p:sp>
      <p:sp>
        <p:nvSpPr>
          <p:cNvPr id="12" name="codes excerpt text"/>
          <p:cNvSpPr txBox="1"/>
          <p:nvPr/>
        </p:nvSpPr>
        <p:spPr>
          <a:xfrm>
            <a:off x="7223760" y="5349240"/>
            <a:ext cx="4114800" cy="548640"/>
          </a:xfrm>
          <a:prstGeom prst="rect">
            <a:avLst/>
          </a:prstGeom>
          <a:noFill/>
          <a:ln/>
        </p:spPr>
        <p:txBody>
          <a:bodyPr wrap="square" lIns="0" tIns="0" rIns="0" bIns="0" rtlCol="0" anchor="t"/>
          <a:lstStyle/>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AB  | 21 |</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AC  | 22 |</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METHODOLOGY AND TOOLS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Pipeline and tools</a:t>
            </a:r>
            <a:endParaRPr lang="en-US" sz="3600" dirty="0"/>
          </a:p>
        </p:txBody>
      </p:sp>
      <p:sp>
        <p:nvSpPr>
          <p:cNvPr id="4" name="Text 2"/>
          <p:cNvSpPr txBox="1"/>
          <p:nvPr/>
        </p:nvSpPr>
        <p:spPr>
          <a:xfrm>
            <a:off x="548640" y="1554480"/>
            <a:ext cx="27432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INDEX ONCE</a:t>
            </a:r>
            <a:endParaRPr lang="en-US" sz="1200" dirty="0"/>
          </a:p>
        </p:txBody>
      </p:sp>
      <p:sp>
        <p:nvSpPr>
          <p:cNvPr id="5" name="Text 3"/>
          <p:cNvSpPr txBox="1"/>
          <p:nvPr/>
        </p:nvSpPr>
        <p:spPr>
          <a:xfrm>
            <a:off x="548640" y="3657600"/>
            <a:ext cx="36576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ANSWER PER QUESTION</a:t>
            </a:r>
            <a:endParaRPr lang="en-US" sz="1200" dirty="0"/>
          </a:p>
        </p:txBody>
      </p:sp>
      <p:sp>
        <p:nvSpPr>
          <p:cNvPr id="6" name="load"/>
          <p:cNvSpPr/>
          <p:nvPr/>
        </p:nvSpPr>
        <p:spPr>
          <a:xfrm>
            <a:off x="548640" y="1965960"/>
            <a:ext cx="2377440" cy="914400"/>
          </a:xfrm>
          <a:prstGeom prst="roundRect">
            <a:avLst>
              <a:gd name="adj" fmla="val 8000"/>
            </a:avLst>
          </a:prstGeom>
          <a:solidFill>
            <a:schemeClr val="bg2"/>
          </a:solidFill>
          <a:ln>
            <a:solidFill>
              <a:schemeClr val="bg2"/>
            </a:solidFill>
          </a:ln>
        </p:spPr>
        <p:txBody>
          <a:bodyPr wrap="square" lIns="635" tIns="635" rIns="635" bIns="635" rtlCol="0" anchor="ctr"/>
          <a:lstStyle/>
          <a:p>
            <a:pPr algn="ctr" indent="0" marL="0">
              <a:buNone/>
            </a:pPr>
            <a:r>
              <a:rPr lang="en-US" sz="1700" b="1" dirty="0">
                <a:solidFill>
                  <a:schemeClr val="tx1"/>
                </a:solidFill>
              </a:rPr>
              <a:t>Load 12 docs</a:t>
            </a:r>
            <a:endParaRPr lang="en-US" sz="1700" dirty="0"/>
          </a:p>
          <a:p>
            <a:pPr algn="ctr" indent="0" marL="0">
              <a:buNone/>
            </a:pPr>
            <a:r>
              <a:rPr lang="en-US" sz="1200" dirty="0">
                <a:solidFill>
                  <a:schemeClr val="accent6"/>
                </a:solidFill>
              </a:rPr>
              <a:t>LangChain Document</a:t>
            </a:r>
            <a:endParaRPr lang="en-US" sz="1700" dirty="0"/>
          </a:p>
        </p:txBody>
      </p:sp>
      <p:sp>
        <p:nvSpPr>
          <p:cNvPr id="7" name="split"/>
          <p:cNvSpPr/>
          <p:nvPr/>
        </p:nvSpPr>
        <p:spPr>
          <a:xfrm>
            <a:off x="3429000" y="1965960"/>
            <a:ext cx="2377440" cy="914400"/>
          </a:xfrm>
          <a:prstGeom prst="roundRect">
            <a:avLst>
              <a:gd name="adj" fmla="val 8000"/>
            </a:avLst>
          </a:prstGeom>
          <a:solidFill>
            <a:schemeClr val="bg2"/>
          </a:solidFill>
          <a:ln>
            <a:solidFill>
              <a:schemeClr val="bg2"/>
            </a:solidFill>
          </a:ln>
        </p:spPr>
        <p:txBody>
          <a:bodyPr wrap="square" lIns="635" tIns="635" rIns="635" bIns="635" rtlCol="0" anchor="ctr"/>
          <a:lstStyle/>
          <a:p>
            <a:pPr algn="ctr" indent="0" marL="0">
              <a:buNone/>
            </a:pPr>
            <a:r>
              <a:rPr lang="en-US" sz="1700" b="1" dirty="0">
                <a:solidFill>
                  <a:schemeClr val="tx1"/>
                </a:solidFill>
              </a:rPr>
              <a:t>Split by heading</a:t>
            </a:r>
            <a:endParaRPr lang="en-US" sz="1700" dirty="0"/>
          </a:p>
          <a:p>
            <a:pPr algn="ctr" indent="0" marL="0">
              <a:buNone/>
            </a:pPr>
            <a:r>
              <a:rPr lang="en-US" sz="1200" dirty="0">
                <a:solidFill>
                  <a:schemeClr val="accent6"/>
                </a:solidFill>
              </a:rPr>
              <a:t>MarkdownHeaderTextSplitter</a:t>
            </a:r>
            <a:endParaRPr lang="en-US" sz="1700" dirty="0"/>
          </a:p>
        </p:txBody>
      </p:sp>
      <p:sp>
        <p:nvSpPr>
          <p:cNvPr id="8" name="embed"/>
          <p:cNvSpPr/>
          <p:nvPr/>
        </p:nvSpPr>
        <p:spPr>
          <a:xfrm>
            <a:off x="6309360" y="1965960"/>
            <a:ext cx="2377440" cy="914400"/>
          </a:xfrm>
          <a:prstGeom prst="roundRect">
            <a:avLst>
              <a:gd name="adj" fmla="val 8000"/>
            </a:avLst>
          </a:prstGeom>
          <a:solidFill>
            <a:schemeClr val="bg2"/>
          </a:solidFill>
          <a:ln>
            <a:solidFill>
              <a:schemeClr val="bg2"/>
            </a:solidFill>
          </a:ln>
        </p:spPr>
        <p:txBody>
          <a:bodyPr wrap="square" lIns="635" tIns="635" rIns="635" bIns="635" rtlCol="0" anchor="ctr"/>
          <a:lstStyle/>
          <a:p>
            <a:pPr algn="ctr" indent="0" marL="0">
              <a:buNone/>
            </a:pPr>
            <a:r>
              <a:rPr lang="en-US" sz="1700" b="1" dirty="0">
                <a:solidFill>
                  <a:schemeClr val="tx1"/>
                </a:solidFill>
              </a:rPr>
              <a:t>Embed</a:t>
            </a:r>
            <a:endParaRPr lang="en-US" sz="1700" dirty="0"/>
          </a:p>
          <a:p>
            <a:pPr algn="ctr" indent="0" marL="0">
              <a:buNone/>
            </a:pPr>
            <a:r>
              <a:rPr lang="en-US" sz="1200" dirty="0">
                <a:solidFill>
                  <a:schemeClr val="accent6"/>
                </a:solidFill>
              </a:rPr>
              <a:t>Voyage voyage-3.5-lite</a:t>
            </a:r>
            <a:endParaRPr lang="en-US" sz="1700" dirty="0"/>
          </a:p>
        </p:txBody>
      </p:sp>
      <p:sp>
        <p:nvSpPr>
          <p:cNvPr id="9" name="store"/>
          <p:cNvSpPr/>
          <p:nvPr/>
        </p:nvSpPr>
        <p:spPr>
          <a:xfrm>
            <a:off x="9189720" y="1965960"/>
            <a:ext cx="2377440" cy="914400"/>
          </a:xfrm>
          <a:prstGeom prst="roundRect">
            <a:avLst>
              <a:gd name="adj" fmla="val 8000"/>
            </a:avLst>
          </a:prstGeom>
          <a:solidFill>
            <a:schemeClr val="bg2"/>
          </a:solidFill>
          <a:ln>
            <a:solidFill>
              <a:schemeClr val="bg2"/>
            </a:solidFill>
          </a:ln>
        </p:spPr>
        <p:txBody>
          <a:bodyPr wrap="square" lIns="635" tIns="635" rIns="635" bIns="635" rtlCol="0" anchor="ctr"/>
          <a:lstStyle/>
          <a:p>
            <a:pPr algn="ctr" indent="0" marL="0">
              <a:buNone/>
            </a:pPr>
            <a:r>
              <a:rPr lang="en-US" sz="1700" b="1" dirty="0">
                <a:solidFill>
                  <a:schemeClr val="tx1"/>
                </a:solidFill>
              </a:rPr>
              <a:t>Store</a:t>
            </a:r>
            <a:endParaRPr lang="en-US" sz="1700" dirty="0"/>
          </a:p>
          <a:p>
            <a:pPr algn="ctr" indent="0" marL="0">
              <a:buNone/>
            </a:pPr>
            <a:r>
              <a:rPr lang="en-US" sz="1200" dirty="0">
                <a:solidFill>
                  <a:schemeClr val="accent6"/>
                </a:solidFill>
              </a:rPr>
              <a:t>Chroma vector store</a:t>
            </a:r>
            <a:endParaRPr lang="en-US" sz="1700" dirty="0"/>
          </a:p>
        </p:txBody>
      </p:sp>
      <p:sp>
        <p:nvSpPr>
          <p:cNvPr id="10" name="question"/>
          <p:cNvSpPr/>
          <p:nvPr/>
        </p:nvSpPr>
        <p:spPr>
          <a:xfrm>
            <a:off x="548640" y="4069080"/>
            <a:ext cx="2377440" cy="914400"/>
          </a:xfrm>
          <a:prstGeom prst="roundRect">
            <a:avLst>
              <a:gd name="adj" fmla="val 8000"/>
            </a:avLst>
          </a:prstGeom>
          <a:solidFill>
            <a:schemeClr val="bg2"/>
          </a:solidFill>
          <a:ln>
            <a:solidFill>
              <a:schemeClr val="bg2"/>
            </a:solidFill>
          </a:ln>
        </p:spPr>
        <p:txBody>
          <a:bodyPr wrap="square" lIns="635" tIns="635" rIns="635" bIns="635" rtlCol="0" anchor="ctr"/>
          <a:lstStyle/>
          <a:p>
            <a:pPr algn="ctr" indent="0" marL="0">
              <a:buNone/>
            </a:pPr>
            <a:r>
              <a:rPr lang="en-US" sz="1700" b="1" dirty="0">
                <a:solidFill>
                  <a:schemeClr val="tx1"/>
                </a:solidFill>
              </a:rPr>
              <a:t>Question</a:t>
            </a:r>
            <a:endParaRPr lang="en-US" sz="1700" dirty="0"/>
          </a:p>
          <a:p>
            <a:pPr algn="ctr" indent="0" marL="0">
              <a:buNone/>
            </a:pPr>
            <a:r>
              <a:rPr lang="en-US" sz="1200" dirty="0">
                <a:solidFill>
                  <a:schemeClr val="accent6"/>
                </a:solidFill>
              </a:rPr>
              <a:t>from the analyst</a:t>
            </a:r>
            <a:endParaRPr lang="en-US" sz="1700" dirty="0"/>
          </a:p>
        </p:txBody>
      </p:sp>
      <p:sp>
        <p:nvSpPr>
          <p:cNvPr id="11" name="retrieve"/>
          <p:cNvSpPr/>
          <p:nvPr/>
        </p:nvSpPr>
        <p:spPr>
          <a:xfrm>
            <a:off x="3429000" y="4069080"/>
            <a:ext cx="2377440" cy="914400"/>
          </a:xfrm>
          <a:prstGeom prst="roundRect">
            <a:avLst>
              <a:gd name="adj" fmla="val 8000"/>
            </a:avLst>
          </a:prstGeom>
          <a:solidFill>
            <a:schemeClr val="bg2"/>
          </a:solidFill>
          <a:ln>
            <a:solidFill>
              <a:schemeClr val="bg2"/>
            </a:solidFill>
          </a:ln>
        </p:spPr>
        <p:txBody>
          <a:bodyPr wrap="square" lIns="635" tIns="635" rIns="635" bIns="635" rtlCol="0" anchor="ctr"/>
          <a:lstStyle/>
          <a:p>
            <a:pPr algn="ctr" indent="0" marL="0">
              <a:buNone/>
            </a:pPr>
            <a:r>
              <a:rPr lang="en-US" sz="1700" b="1" dirty="0">
                <a:solidFill>
                  <a:schemeClr val="tx1"/>
                </a:solidFill>
              </a:rPr>
              <a:t>Retrieve</a:t>
            </a:r>
            <a:endParaRPr lang="en-US" sz="1700" dirty="0"/>
          </a:p>
          <a:p>
            <a:pPr algn="ctr" indent="0" marL="0">
              <a:buNone/>
            </a:pPr>
            <a:r>
              <a:rPr lang="en-US" sz="1200" dirty="0">
                <a:solidFill>
                  <a:schemeClr val="accent6"/>
                </a:solidFill>
              </a:rPr>
              <a:t>top 4 chunks</a:t>
            </a:r>
            <a:endParaRPr lang="en-US" sz="1700" dirty="0"/>
          </a:p>
        </p:txBody>
      </p:sp>
      <p:sp>
        <p:nvSpPr>
          <p:cNvPr id="12" name="prompt"/>
          <p:cNvSpPr/>
          <p:nvPr/>
        </p:nvSpPr>
        <p:spPr>
          <a:xfrm>
            <a:off x="6309360" y="4069080"/>
            <a:ext cx="2377440" cy="914400"/>
          </a:xfrm>
          <a:prstGeom prst="roundRect">
            <a:avLst>
              <a:gd name="adj" fmla="val 8000"/>
            </a:avLst>
          </a:prstGeom>
          <a:solidFill>
            <a:schemeClr val="bg2"/>
          </a:solidFill>
          <a:ln>
            <a:solidFill>
              <a:schemeClr val="bg2"/>
            </a:solidFill>
          </a:ln>
        </p:spPr>
        <p:txBody>
          <a:bodyPr wrap="square" lIns="635" tIns="635" rIns="635" bIns="635" rtlCol="0" anchor="ctr"/>
          <a:lstStyle/>
          <a:p>
            <a:pPr algn="ctr" indent="0" marL="0">
              <a:buNone/>
            </a:pPr>
            <a:r>
              <a:rPr lang="en-US" sz="1700" b="1" dirty="0">
                <a:solidFill>
                  <a:schemeClr val="tx1"/>
                </a:solidFill>
              </a:rPr>
              <a:t>Prompt</a:t>
            </a:r>
            <a:endParaRPr lang="en-US" sz="1700" dirty="0"/>
          </a:p>
          <a:p>
            <a:pPr algn="ctr" indent="0" marL="0">
              <a:buNone/>
            </a:pPr>
            <a:r>
              <a:rPr lang="en-US" sz="1200" dirty="0">
                <a:solidFill>
                  <a:schemeClr val="accent6"/>
                </a:solidFill>
              </a:rPr>
              <a:t>cite or abstain</a:t>
            </a:r>
            <a:endParaRPr lang="en-US" sz="1700" dirty="0"/>
          </a:p>
        </p:txBody>
      </p:sp>
      <p:sp>
        <p:nvSpPr>
          <p:cNvPr id="13" name="llm"/>
          <p:cNvSpPr/>
          <p:nvPr/>
        </p:nvSpPr>
        <p:spPr>
          <a:xfrm>
            <a:off x="9189720" y="4069080"/>
            <a:ext cx="2377440" cy="914400"/>
          </a:xfrm>
          <a:prstGeom prst="roundRect">
            <a:avLst>
              <a:gd name="adj" fmla="val 8000"/>
            </a:avLst>
          </a:prstGeom>
          <a:solidFill>
            <a:schemeClr val="bg2"/>
          </a:solidFill>
          <a:ln>
            <a:solidFill>
              <a:schemeClr val="bg2"/>
            </a:solidFill>
          </a:ln>
        </p:spPr>
        <p:txBody>
          <a:bodyPr wrap="square" lIns="635" tIns="635" rIns="635" bIns="635" rtlCol="0" anchor="ctr"/>
          <a:lstStyle/>
          <a:p>
            <a:pPr algn="ctr" indent="0" marL="0">
              <a:buNone/>
            </a:pPr>
            <a:r>
              <a:rPr lang="en-US" sz="1700" b="1" dirty="0">
                <a:solidFill>
                  <a:schemeClr val="tx1"/>
                </a:solidFill>
              </a:rPr>
              <a:t>Claude Haiku 5.5</a:t>
            </a:r>
            <a:endParaRPr lang="en-US" sz="1700" dirty="0"/>
          </a:p>
          <a:p>
            <a:pPr algn="ctr" indent="0" marL="0">
              <a:buNone/>
            </a:pPr>
            <a:r>
              <a:rPr lang="en-US" sz="1200" dirty="0">
                <a:solidFill>
                  <a:schemeClr val="accent6"/>
                </a:solidFill>
              </a:rPr>
              <a:t>LangChain LCEL chain</a:t>
            </a:r>
            <a:endParaRPr lang="en-US" sz="1700" dirty="0"/>
          </a:p>
        </p:txBody>
      </p:sp>
      <p:sp>
        <p:nvSpPr>
          <p:cNvPr id="14" name="output"/>
          <p:cNvSpPr/>
          <p:nvPr/>
        </p:nvSpPr>
        <p:spPr>
          <a:xfrm>
            <a:off x="9189720" y="5349240"/>
            <a:ext cx="2377440" cy="914400"/>
          </a:xfrm>
          <a:prstGeom prst="roundRect">
            <a:avLst>
              <a:gd name="adj" fmla="val 8000"/>
            </a:avLst>
          </a:prstGeom>
          <a:solidFill>
            <a:schemeClr val="accent1"/>
          </a:solidFill>
          <a:ln>
            <a:solidFill>
              <a:schemeClr val="accent1"/>
            </a:solidFill>
          </a:ln>
        </p:spPr>
        <p:txBody>
          <a:bodyPr wrap="square" lIns="635" tIns="635" rIns="635" bIns="635" rtlCol="0" anchor="ctr"/>
          <a:lstStyle/>
          <a:p>
            <a:pPr algn="ctr" indent="0" marL="0">
              <a:buNone/>
            </a:pPr>
            <a:r>
              <a:rPr lang="en-US" sz="1700" b="1" dirty="0">
                <a:solidFill>
                  <a:schemeClr val="tx1"/>
                </a:solidFill>
              </a:rPr>
              <a:t>Cited answer</a:t>
            </a:r>
            <a:endParaRPr lang="en-US" sz="1700" dirty="0"/>
          </a:p>
          <a:p>
            <a:pPr algn="ctr" indent="0" marL="0">
              <a:buNone/>
            </a:pPr>
            <a:r>
              <a:rPr lang="en-US" sz="1200" dirty="0">
                <a:solidFill>
                  <a:schemeClr val="accent6"/>
                </a:solidFill>
              </a:rPr>
              <a:t>or “not in the docs”</a:t>
            </a:r>
            <a:endParaRPr lang="en-US" sz="1700" dirty="0"/>
          </a:p>
        </p:txBody>
      </p:sp>
      <p:sp>
        <p:nvSpPr>
          <p:cNvPr id="15" name="baselines"/>
          <p:cNvSpPr/>
          <p:nvPr/>
        </p:nvSpPr>
        <p:spPr>
          <a:xfrm>
            <a:off x="548640" y="5349240"/>
            <a:ext cx="2377440" cy="914400"/>
          </a:xfrm>
          <a:prstGeom prst="roundRect">
            <a:avLst>
              <a:gd name="adj" fmla="val 8000"/>
            </a:avLst>
          </a:prstGeom>
          <a:solidFill>
            <a:srgbClr val="E3E7EE"/>
          </a:solidFill>
          <a:ln>
            <a:solidFill>
              <a:srgbClr val="E3E7EE"/>
            </a:solidFill>
          </a:ln>
        </p:spPr>
        <p:txBody>
          <a:bodyPr wrap="square" lIns="635" tIns="635" rIns="635" bIns="635" rtlCol="0" anchor="ctr"/>
          <a:lstStyle/>
          <a:p>
            <a:pPr algn="ctr" indent="0" marL="0">
              <a:buNone/>
            </a:pPr>
            <a:r>
              <a:rPr lang="en-US" sz="1700" b="1" dirty="0">
                <a:solidFill>
                  <a:schemeClr val="tx1"/>
                </a:solidFill>
              </a:rPr>
              <a:t>Baselines</a:t>
            </a:r>
            <a:endParaRPr lang="en-US" sz="1700" dirty="0"/>
          </a:p>
          <a:p>
            <a:pPr algn="ctr" indent="0" marL="0">
              <a:buNone/>
            </a:pPr>
            <a:r>
              <a:rPr lang="en-US" sz="1200" dirty="0">
                <a:solidFill>
                  <a:schemeClr val="accent6"/>
                </a:solidFill>
              </a:rPr>
              <a:t>question only, same model</a:t>
            </a:r>
            <a:endParaRPr lang="en-US" sz="1700" dirty="0"/>
          </a:p>
        </p:txBody>
      </p:sp>
      <p:sp>
        <p:nvSpPr>
          <p:cNvPr id="16" name="Shape 14"/>
          <p:cNvSpPr/>
          <p:nvPr/>
        </p:nvSpPr>
        <p:spPr>
          <a:xfrm>
            <a:off x="2926080" y="2423160"/>
            <a:ext cx="502920" cy="0"/>
          </a:xfrm>
          <a:prstGeom prst="line">
            <a:avLst/>
          </a:prstGeom>
          <a:noFill/>
          <a:ln w="19050">
            <a:solidFill>
              <a:srgbClr val="5C677D"/>
            </a:solidFill>
            <a:prstDash val="solid"/>
            <a:tailEnd type="triangle"/>
          </a:ln>
        </p:spPr>
      </p:sp>
      <p:sp>
        <p:nvSpPr>
          <p:cNvPr id="17" name="Shape 15"/>
          <p:cNvSpPr/>
          <p:nvPr/>
        </p:nvSpPr>
        <p:spPr>
          <a:xfrm>
            <a:off x="2926080" y="4526280"/>
            <a:ext cx="502920" cy="0"/>
          </a:xfrm>
          <a:prstGeom prst="line">
            <a:avLst/>
          </a:prstGeom>
          <a:noFill/>
          <a:ln w="19050">
            <a:solidFill>
              <a:srgbClr val="5C677D"/>
            </a:solidFill>
            <a:prstDash val="solid"/>
            <a:tailEnd type="triangle"/>
          </a:ln>
        </p:spPr>
      </p:sp>
      <p:sp>
        <p:nvSpPr>
          <p:cNvPr id="18" name="Shape 16"/>
          <p:cNvSpPr/>
          <p:nvPr/>
        </p:nvSpPr>
        <p:spPr>
          <a:xfrm>
            <a:off x="5806440" y="2423160"/>
            <a:ext cx="502920" cy="0"/>
          </a:xfrm>
          <a:prstGeom prst="line">
            <a:avLst/>
          </a:prstGeom>
          <a:noFill/>
          <a:ln w="19050">
            <a:solidFill>
              <a:srgbClr val="5C677D"/>
            </a:solidFill>
            <a:prstDash val="solid"/>
            <a:tailEnd type="triangle"/>
          </a:ln>
        </p:spPr>
      </p:sp>
      <p:sp>
        <p:nvSpPr>
          <p:cNvPr id="19" name="Shape 17"/>
          <p:cNvSpPr/>
          <p:nvPr/>
        </p:nvSpPr>
        <p:spPr>
          <a:xfrm>
            <a:off x="5806440" y="4526280"/>
            <a:ext cx="502920" cy="0"/>
          </a:xfrm>
          <a:prstGeom prst="line">
            <a:avLst/>
          </a:prstGeom>
          <a:noFill/>
          <a:ln w="19050">
            <a:solidFill>
              <a:srgbClr val="5C677D"/>
            </a:solidFill>
            <a:prstDash val="solid"/>
            <a:tailEnd type="triangle"/>
          </a:ln>
        </p:spPr>
      </p:sp>
      <p:sp>
        <p:nvSpPr>
          <p:cNvPr id="20" name="Shape 18"/>
          <p:cNvSpPr/>
          <p:nvPr/>
        </p:nvSpPr>
        <p:spPr>
          <a:xfrm>
            <a:off x="8686800" y="2423160"/>
            <a:ext cx="502920" cy="0"/>
          </a:xfrm>
          <a:prstGeom prst="line">
            <a:avLst/>
          </a:prstGeom>
          <a:noFill/>
          <a:ln w="19050">
            <a:solidFill>
              <a:srgbClr val="5C677D"/>
            </a:solidFill>
            <a:prstDash val="solid"/>
            <a:tailEnd type="triangle"/>
          </a:ln>
        </p:spPr>
      </p:sp>
      <p:sp>
        <p:nvSpPr>
          <p:cNvPr id="21" name="Shape 19"/>
          <p:cNvSpPr/>
          <p:nvPr/>
        </p:nvSpPr>
        <p:spPr>
          <a:xfrm>
            <a:off x="8686800" y="4526280"/>
            <a:ext cx="502920" cy="0"/>
          </a:xfrm>
          <a:prstGeom prst="line">
            <a:avLst/>
          </a:prstGeom>
          <a:noFill/>
          <a:ln w="19050">
            <a:solidFill>
              <a:srgbClr val="5C677D"/>
            </a:solidFill>
            <a:prstDash val="solid"/>
            <a:tailEnd type="triangle"/>
          </a:ln>
        </p:spPr>
      </p:sp>
      <p:sp>
        <p:nvSpPr>
          <p:cNvPr id="22" name="Shape 20"/>
          <p:cNvSpPr/>
          <p:nvPr/>
        </p:nvSpPr>
        <p:spPr>
          <a:xfrm>
            <a:off x="10378440" y="2880360"/>
            <a:ext cx="0" cy="502920"/>
          </a:xfrm>
          <a:prstGeom prst="line">
            <a:avLst/>
          </a:prstGeom>
          <a:noFill/>
          <a:ln w="19050">
            <a:solidFill>
              <a:srgbClr val="5C677D"/>
            </a:solidFill>
            <a:prstDash val="solid"/>
          </a:ln>
        </p:spPr>
      </p:sp>
      <p:sp>
        <p:nvSpPr>
          <p:cNvPr id="23" name="Shape 21"/>
          <p:cNvSpPr/>
          <p:nvPr/>
        </p:nvSpPr>
        <p:spPr>
          <a:xfrm>
            <a:off x="4617720" y="3383280"/>
            <a:ext cx="5760720" cy="0"/>
          </a:xfrm>
          <a:prstGeom prst="line">
            <a:avLst/>
          </a:prstGeom>
          <a:noFill/>
          <a:ln w="19050">
            <a:solidFill>
              <a:srgbClr val="5C677D"/>
            </a:solidFill>
            <a:prstDash val="solid"/>
          </a:ln>
        </p:spPr>
      </p:sp>
      <p:sp>
        <p:nvSpPr>
          <p:cNvPr id="24" name="Shape 22"/>
          <p:cNvSpPr/>
          <p:nvPr/>
        </p:nvSpPr>
        <p:spPr>
          <a:xfrm>
            <a:off x="4617720" y="3383280"/>
            <a:ext cx="0" cy="685800"/>
          </a:xfrm>
          <a:prstGeom prst="line">
            <a:avLst/>
          </a:prstGeom>
          <a:noFill/>
          <a:ln w="19050">
            <a:solidFill>
              <a:srgbClr val="5C677D"/>
            </a:solidFill>
            <a:prstDash val="solid"/>
            <a:tailEnd type="triangle"/>
          </a:ln>
        </p:spPr>
      </p:sp>
      <p:sp>
        <p:nvSpPr>
          <p:cNvPr id="25" name="Text 23"/>
          <p:cNvSpPr txBox="1"/>
          <p:nvPr/>
        </p:nvSpPr>
        <p:spPr>
          <a:xfrm>
            <a:off x="5852160" y="3063240"/>
            <a:ext cx="2194560" cy="274320"/>
          </a:xfrm>
          <a:prstGeom prst="rect">
            <a:avLst/>
          </a:prstGeom>
          <a:noFill/>
          <a:ln/>
        </p:spPr>
        <p:txBody>
          <a:bodyPr wrap="square" lIns="0" tIns="0" rIns="0" bIns="0" rtlCol="0" anchor="ctr"/>
          <a:lstStyle/>
          <a:p>
            <a:pPr algn="ctr" indent="0" marL="0">
              <a:buNone/>
            </a:pPr>
            <a:r>
              <a:rPr lang="en-US" sz="1200" i="1" dirty="0">
                <a:solidFill>
                  <a:schemeClr val="accent6"/>
                </a:solidFill>
              </a:rPr>
              <a:t>similarity search</a:t>
            </a:r>
            <a:endParaRPr lang="en-US" sz="1200" dirty="0"/>
          </a:p>
        </p:txBody>
      </p:sp>
      <p:sp>
        <p:nvSpPr>
          <p:cNvPr id="26" name="Shape 24"/>
          <p:cNvSpPr/>
          <p:nvPr/>
        </p:nvSpPr>
        <p:spPr>
          <a:xfrm>
            <a:off x="10378440" y="4983480"/>
            <a:ext cx="0" cy="365760"/>
          </a:xfrm>
          <a:prstGeom prst="line">
            <a:avLst/>
          </a:prstGeom>
          <a:noFill/>
          <a:ln w="19050">
            <a:solidFill>
              <a:srgbClr val="5C677D"/>
            </a:solidFill>
            <a:prstDash val="solid"/>
            <a:tailEnd type="triangle"/>
          </a:ln>
        </p:spPr>
      </p:sp>
      <p:sp>
        <p:nvSpPr>
          <p:cNvPr id="27" name="Shape 25"/>
          <p:cNvSpPr/>
          <p:nvPr/>
        </p:nvSpPr>
        <p:spPr>
          <a:xfrm>
            <a:off x="1737360" y="4983480"/>
            <a:ext cx="0" cy="365760"/>
          </a:xfrm>
          <a:prstGeom prst="line">
            <a:avLst/>
          </a:prstGeom>
          <a:noFill/>
          <a:ln w="19050">
            <a:solidFill>
              <a:srgbClr val="5C677D"/>
            </a:solidFill>
            <a:prstDash val="dash"/>
            <a:tailEnd type="triangle"/>
          </a:ln>
        </p:spPr>
      </p:sp>
      <p:sp>
        <p:nvSpPr>
          <p:cNvPr id="28" name="Text 26"/>
          <p:cNvSpPr txBox="1"/>
          <p:nvPr/>
        </p:nvSpPr>
        <p:spPr>
          <a:xfrm>
            <a:off x="1874520" y="5029200"/>
            <a:ext cx="1645920" cy="274320"/>
          </a:xfrm>
          <a:prstGeom prst="rect">
            <a:avLst/>
          </a:prstGeom>
          <a:noFill/>
          <a:ln/>
        </p:spPr>
        <p:txBody>
          <a:bodyPr wrap="square" lIns="0" tIns="0" rIns="0" bIns="0" rtlCol="0" anchor="ctr"/>
          <a:lstStyle/>
          <a:p>
            <a:pPr indent="0" marL="0">
              <a:buNone/>
            </a:pPr>
            <a:r>
              <a:rPr lang="en-US" sz="1200" i="1" dirty="0">
                <a:solidFill>
                  <a:schemeClr val="accent6"/>
                </a:solidFill>
              </a:rPr>
              <a:t>skips retrieval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METHODOLOGY AND TOOLS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Test design: one model, three systems</a:t>
            </a:r>
            <a:endParaRPr lang="en-US" sz="3600" dirty="0"/>
          </a:p>
        </p:txBody>
      </p:sp>
      <p:sp>
        <p:nvSpPr>
          <p:cNvPr id="4" name="system 1"/>
          <p:cNvSpPr/>
          <p:nvPr/>
        </p:nvSpPr>
        <p:spPr>
          <a:xfrm>
            <a:off x="548640" y="1645920"/>
            <a:ext cx="3474720" cy="1600200"/>
          </a:xfrm>
          <a:prstGeom prst="roundRect">
            <a:avLst>
              <a:gd name="adj" fmla="val 4571"/>
            </a:avLst>
          </a:prstGeom>
          <a:solidFill>
            <a:schemeClr val="bg2"/>
          </a:solidFill>
          <a:ln w="12700">
            <a:solidFill>
              <a:schemeClr val="bg2"/>
            </a:solidFill>
            <a:prstDash val="solid"/>
          </a:ln>
        </p:spPr>
      </p:sp>
      <p:sp>
        <p:nvSpPr>
          <p:cNvPr id="5" name="system 1 dot"/>
          <p:cNvSpPr/>
          <p:nvPr/>
        </p:nvSpPr>
        <p:spPr>
          <a:xfrm>
            <a:off x="822960" y="1901952"/>
            <a:ext cx="292608" cy="292608"/>
          </a:xfrm>
          <a:prstGeom prst="ellipse">
            <a:avLst/>
          </a:prstGeom>
          <a:solidFill>
            <a:schemeClr val="accent2"/>
          </a:solidFill>
          <a:ln w="12700">
            <a:solidFill>
              <a:schemeClr val="accent2"/>
            </a:solidFill>
            <a:prstDash val="solid"/>
          </a:ln>
        </p:spPr>
      </p:sp>
      <p:sp>
        <p:nvSpPr>
          <p:cNvPr id="6" name="Text 4"/>
          <p:cNvSpPr txBox="1"/>
          <p:nvPr/>
        </p:nvSpPr>
        <p:spPr>
          <a:xfrm>
            <a:off x="1234440" y="182880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RAG</a:t>
            </a:r>
            <a:endParaRPr lang="en-US" sz="2000" dirty="0"/>
          </a:p>
        </p:txBody>
      </p:sp>
      <p:sp>
        <p:nvSpPr>
          <p:cNvPr id="7" name="Text 5"/>
          <p:cNvSpPr txBox="1"/>
          <p:nvPr/>
        </p:nvSpPr>
        <p:spPr>
          <a:xfrm>
            <a:off x="822960" y="2377440"/>
            <a:ext cx="2971800" cy="1097280"/>
          </a:xfrm>
          <a:prstGeom prst="rect">
            <a:avLst/>
          </a:prstGeom>
          <a:noFill/>
          <a:ln/>
        </p:spPr>
        <p:txBody>
          <a:bodyPr wrap="square" lIns="0" tIns="0" rIns="0" bIns="0" rtlCol="0" anchor="t"/>
          <a:lstStyle/>
          <a:p>
            <a:pPr indent="0" marL="0">
              <a:buNone/>
            </a:pPr>
            <a:r>
              <a:rPr lang="en-US" sz="1500" dirty="0">
                <a:solidFill>
                  <a:schemeClr val="tx1"/>
                </a:solidFill>
              </a:rPr>
              <a:t>Top 4 retrieved chunks + rules: cite the file, or say “not in the docs”</a:t>
            </a:r>
            <a:endParaRPr lang="en-US" sz="1500" dirty="0"/>
          </a:p>
        </p:txBody>
      </p:sp>
      <p:sp>
        <p:nvSpPr>
          <p:cNvPr id="8" name="system 2"/>
          <p:cNvSpPr/>
          <p:nvPr/>
        </p:nvSpPr>
        <p:spPr>
          <a:xfrm>
            <a:off x="4297680" y="1645920"/>
            <a:ext cx="3474720" cy="1600200"/>
          </a:xfrm>
          <a:prstGeom prst="roundRect">
            <a:avLst>
              <a:gd name="adj" fmla="val 4571"/>
            </a:avLst>
          </a:prstGeom>
          <a:solidFill>
            <a:schemeClr val="bg2"/>
          </a:solidFill>
          <a:ln w="12700">
            <a:solidFill>
              <a:schemeClr val="bg2"/>
            </a:solidFill>
            <a:prstDash val="solid"/>
          </a:ln>
        </p:spPr>
      </p:sp>
      <p:sp>
        <p:nvSpPr>
          <p:cNvPr id="9" name="system 2 dot"/>
          <p:cNvSpPr/>
          <p:nvPr/>
        </p:nvSpPr>
        <p:spPr>
          <a:xfrm>
            <a:off x="4572000" y="1901952"/>
            <a:ext cx="292608" cy="292608"/>
          </a:xfrm>
          <a:prstGeom prst="ellipse">
            <a:avLst/>
          </a:prstGeom>
          <a:solidFill>
            <a:schemeClr val="accent3"/>
          </a:solidFill>
          <a:ln w="12700">
            <a:solidFill>
              <a:schemeClr val="accent3"/>
            </a:solidFill>
            <a:prstDash val="solid"/>
          </a:ln>
        </p:spPr>
      </p:sp>
      <p:sp>
        <p:nvSpPr>
          <p:cNvPr id="10" name="Text 8"/>
          <p:cNvSpPr txBox="1"/>
          <p:nvPr/>
        </p:nvSpPr>
        <p:spPr>
          <a:xfrm>
            <a:off x="4983480" y="182880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Guarded baseline</a:t>
            </a:r>
            <a:endParaRPr lang="en-US" sz="2000" dirty="0"/>
          </a:p>
        </p:txBody>
      </p:sp>
      <p:sp>
        <p:nvSpPr>
          <p:cNvPr id="11" name="Text 9"/>
          <p:cNvSpPr txBox="1"/>
          <p:nvPr/>
        </p:nvSpPr>
        <p:spPr>
          <a:xfrm>
            <a:off x="4572000" y="2377440"/>
            <a:ext cx="2971800" cy="1097280"/>
          </a:xfrm>
          <a:prstGeom prst="rect">
            <a:avLst/>
          </a:prstGeom>
          <a:noFill/>
          <a:ln/>
        </p:spPr>
        <p:txBody>
          <a:bodyPr wrap="square" lIns="0" tIns="0" rIns="0" bIns="0" rtlCol="0" anchor="t"/>
          <a:lstStyle/>
          <a:p>
            <a:pPr indent="0" marL="0">
              <a:buNone/>
            </a:pPr>
            <a:r>
              <a:rPr lang="en-US" sz="1500" dirty="0">
                <a:solidFill>
                  <a:schemeClr val="tx1"/>
                </a:solidFill>
              </a:rPr>
              <a:t>No docs. One line about GridLine + permission to say “not in the docs”</a:t>
            </a:r>
            <a:endParaRPr lang="en-US" sz="1500" dirty="0"/>
          </a:p>
        </p:txBody>
      </p:sp>
      <p:sp>
        <p:nvSpPr>
          <p:cNvPr id="12" name="system 3"/>
          <p:cNvSpPr/>
          <p:nvPr/>
        </p:nvSpPr>
        <p:spPr>
          <a:xfrm>
            <a:off x="8046720" y="1645920"/>
            <a:ext cx="3474720" cy="1600200"/>
          </a:xfrm>
          <a:prstGeom prst="roundRect">
            <a:avLst>
              <a:gd name="adj" fmla="val 4571"/>
            </a:avLst>
          </a:prstGeom>
          <a:solidFill>
            <a:schemeClr val="bg2"/>
          </a:solidFill>
          <a:ln w="12700">
            <a:solidFill>
              <a:schemeClr val="bg2"/>
            </a:solidFill>
            <a:prstDash val="solid"/>
          </a:ln>
        </p:spPr>
      </p:sp>
      <p:sp>
        <p:nvSpPr>
          <p:cNvPr id="13" name="system 3 dot"/>
          <p:cNvSpPr/>
          <p:nvPr/>
        </p:nvSpPr>
        <p:spPr>
          <a:xfrm>
            <a:off x="8321040" y="1901952"/>
            <a:ext cx="292608" cy="292608"/>
          </a:xfrm>
          <a:prstGeom prst="ellipse">
            <a:avLst/>
          </a:prstGeom>
          <a:solidFill>
            <a:schemeClr val="accent3"/>
          </a:solidFill>
          <a:ln w="12700">
            <a:solidFill>
              <a:schemeClr val="accent3"/>
            </a:solidFill>
            <a:prstDash val="solid"/>
          </a:ln>
        </p:spPr>
      </p:sp>
      <p:sp>
        <p:nvSpPr>
          <p:cNvPr id="14" name="Text 12"/>
          <p:cNvSpPr txBox="1"/>
          <p:nvPr/>
        </p:nvSpPr>
        <p:spPr>
          <a:xfrm>
            <a:off x="8732520" y="182880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Open baseline</a:t>
            </a:r>
            <a:endParaRPr lang="en-US" sz="2000" dirty="0"/>
          </a:p>
        </p:txBody>
      </p:sp>
      <p:sp>
        <p:nvSpPr>
          <p:cNvPr id="15" name="Text 13"/>
          <p:cNvSpPr txBox="1"/>
          <p:nvPr/>
        </p:nvSpPr>
        <p:spPr>
          <a:xfrm>
            <a:off x="8321040" y="2377440"/>
            <a:ext cx="2971800" cy="1097280"/>
          </a:xfrm>
          <a:prstGeom prst="rect">
            <a:avLst/>
          </a:prstGeom>
          <a:noFill/>
          <a:ln/>
        </p:spPr>
        <p:txBody>
          <a:bodyPr wrap="square" lIns="0" tIns="0" rIns="0" bIns="0" rtlCol="0" anchor="t"/>
          <a:lstStyle/>
          <a:p>
            <a:pPr indent="0" marL="0">
              <a:buNone/>
            </a:pPr>
            <a:r>
              <a:rPr lang="en-US" sz="1500" dirty="0">
                <a:solidFill>
                  <a:schemeClr val="tx1"/>
                </a:solidFill>
              </a:rPr>
              <a:t>No docs. The bare question, like asking a general chatbot</a:t>
            </a:r>
            <a:endParaRPr lang="en-US" sz="1500" dirty="0"/>
          </a:p>
        </p:txBody>
      </p:sp>
      <p:sp>
        <p:nvSpPr>
          <p:cNvPr id="16" name="Text 14"/>
          <p:cNvSpPr txBox="1"/>
          <p:nvPr/>
        </p:nvSpPr>
        <p:spPr>
          <a:xfrm>
            <a:off x="548640" y="3657600"/>
            <a:ext cx="45720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10 QUESTIONS</a:t>
            </a:r>
            <a:endParaRPr lang="en-US" sz="1200" dirty="0"/>
          </a:p>
        </p:txBody>
      </p:sp>
      <p:sp>
        <p:nvSpPr>
          <p:cNvPr id="17" name="Text 15"/>
          <p:cNvSpPr txBox="1"/>
          <p:nvPr/>
        </p:nvSpPr>
        <p:spPr>
          <a:xfrm>
            <a:off x="548640" y="4023360"/>
            <a:ext cx="1280160" cy="914400"/>
          </a:xfrm>
          <a:prstGeom prst="rect">
            <a:avLst/>
          </a:prstGeom>
          <a:noFill/>
          <a:ln/>
        </p:spPr>
        <p:txBody>
          <a:bodyPr wrap="square" lIns="0" tIns="0" rIns="0" bIns="0" rtlCol="0" anchor="ctr"/>
          <a:lstStyle/>
          <a:p>
            <a:pPr indent="0" marL="0">
              <a:buNone/>
            </a:pPr>
            <a:r>
              <a:rPr lang="en-US" sz="6000" b="1" dirty="0">
                <a:solidFill>
                  <a:schemeClr val="tx1"/>
                </a:solidFill>
              </a:rPr>
              <a:t>4</a:t>
            </a:r>
            <a:endParaRPr lang="en-US" sz="6000" dirty="0"/>
          </a:p>
        </p:txBody>
      </p:sp>
      <p:sp>
        <p:nvSpPr>
          <p:cNvPr id="18" name="Text 16"/>
          <p:cNvSpPr txBox="1"/>
          <p:nvPr/>
        </p:nvSpPr>
        <p:spPr>
          <a:xfrm>
            <a:off x="548640" y="4983480"/>
            <a:ext cx="1325880" cy="640080"/>
          </a:xfrm>
          <a:prstGeom prst="rect">
            <a:avLst/>
          </a:prstGeom>
          <a:noFill/>
          <a:ln/>
        </p:spPr>
        <p:txBody>
          <a:bodyPr wrap="square" lIns="0" tIns="0" rIns="0" bIns="0" rtlCol="0" anchor="t"/>
          <a:lstStyle/>
          <a:p>
            <a:pPr indent="0" marL="0">
              <a:buNone/>
            </a:pPr>
            <a:r>
              <a:rPr lang="en-US" sz="1500" dirty="0">
                <a:solidFill>
                  <a:schemeClr val="accent6"/>
                </a:solidFill>
              </a:rPr>
              <a:t>local rules</a:t>
            </a:r>
            <a:endParaRPr lang="en-US" sz="1500" dirty="0"/>
          </a:p>
        </p:txBody>
      </p:sp>
      <p:sp>
        <p:nvSpPr>
          <p:cNvPr id="19" name="Text 17"/>
          <p:cNvSpPr txBox="1"/>
          <p:nvPr/>
        </p:nvSpPr>
        <p:spPr>
          <a:xfrm>
            <a:off x="1965960" y="4023360"/>
            <a:ext cx="1280160" cy="914400"/>
          </a:xfrm>
          <a:prstGeom prst="rect">
            <a:avLst/>
          </a:prstGeom>
          <a:noFill/>
          <a:ln/>
        </p:spPr>
        <p:txBody>
          <a:bodyPr wrap="square" lIns="0" tIns="0" rIns="0" bIns="0" rtlCol="0" anchor="ctr"/>
          <a:lstStyle/>
          <a:p>
            <a:pPr indent="0" marL="0">
              <a:buNone/>
            </a:pPr>
            <a:r>
              <a:rPr lang="en-US" sz="6000" b="1" dirty="0">
                <a:solidFill>
                  <a:schemeClr val="tx1"/>
                </a:solidFill>
              </a:rPr>
              <a:t>3</a:t>
            </a:r>
            <a:endParaRPr lang="en-US" sz="6000" dirty="0"/>
          </a:p>
        </p:txBody>
      </p:sp>
      <p:sp>
        <p:nvSpPr>
          <p:cNvPr id="20" name="Text 18"/>
          <p:cNvSpPr txBox="1"/>
          <p:nvPr/>
        </p:nvSpPr>
        <p:spPr>
          <a:xfrm>
            <a:off x="1965960" y="4983480"/>
            <a:ext cx="1325880" cy="640080"/>
          </a:xfrm>
          <a:prstGeom prst="rect">
            <a:avLst/>
          </a:prstGeom>
          <a:noFill/>
          <a:ln/>
        </p:spPr>
        <p:txBody>
          <a:bodyPr wrap="square" lIns="0" tIns="0" rIns="0" bIns="0" rtlCol="0" anchor="t"/>
          <a:lstStyle/>
          <a:p>
            <a:pPr indent="0" marL="0">
              <a:buNone/>
            </a:pPr>
            <a:r>
              <a:rPr lang="en-US" sz="1500" dirty="0">
                <a:solidFill>
                  <a:schemeClr val="accent6"/>
                </a:solidFill>
              </a:rPr>
              <a:t>co-op exceptions</a:t>
            </a:r>
            <a:endParaRPr lang="en-US" sz="1500" dirty="0"/>
          </a:p>
        </p:txBody>
      </p:sp>
      <p:sp>
        <p:nvSpPr>
          <p:cNvPr id="21" name="Text 19"/>
          <p:cNvSpPr txBox="1"/>
          <p:nvPr/>
        </p:nvSpPr>
        <p:spPr>
          <a:xfrm>
            <a:off x="3383280" y="4023360"/>
            <a:ext cx="1280160" cy="914400"/>
          </a:xfrm>
          <a:prstGeom prst="rect">
            <a:avLst/>
          </a:prstGeom>
          <a:noFill/>
          <a:ln/>
        </p:spPr>
        <p:txBody>
          <a:bodyPr wrap="square" lIns="0" tIns="0" rIns="0" bIns="0" rtlCol="0" anchor="ctr"/>
          <a:lstStyle/>
          <a:p>
            <a:pPr indent="0" marL="0">
              <a:buNone/>
            </a:pPr>
            <a:r>
              <a:rPr lang="en-US" sz="6000" b="1" dirty="0">
                <a:solidFill>
                  <a:schemeClr val="tx1"/>
                </a:solidFill>
              </a:rPr>
              <a:t>2</a:t>
            </a:r>
            <a:endParaRPr lang="en-US" sz="6000" dirty="0"/>
          </a:p>
        </p:txBody>
      </p:sp>
      <p:sp>
        <p:nvSpPr>
          <p:cNvPr id="22" name="Text 20"/>
          <p:cNvSpPr txBox="1"/>
          <p:nvPr/>
        </p:nvSpPr>
        <p:spPr>
          <a:xfrm>
            <a:off x="3383280" y="4983480"/>
            <a:ext cx="1325880" cy="640080"/>
          </a:xfrm>
          <a:prstGeom prst="rect">
            <a:avLst/>
          </a:prstGeom>
          <a:noFill/>
          <a:ln/>
        </p:spPr>
        <p:txBody>
          <a:bodyPr wrap="square" lIns="0" tIns="0" rIns="0" bIns="0" rtlCol="0" anchor="t"/>
          <a:lstStyle/>
          <a:p>
            <a:pPr indent="0" marL="0">
              <a:buNone/>
            </a:pPr>
            <a:r>
              <a:rPr lang="en-US" sz="1500" dirty="0">
                <a:solidFill>
                  <a:schemeClr val="accent6"/>
                </a:solidFill>
              </a:rPr>
              <a:t>not in the docs</a:t>
            </a:r>
            <a:endParaRPr lang="en-US" sz="1500" dirty="0"/>
          </a:p>
        </p:txBody>
      </p:sp>
      <p:sp>
        <p:nvSpPr>
          <p:cNvPr id="23" name="Text 21"/>
          <p:cNvSpPr txBox="1"/>
          <p:nvPr/>
        </p:nvSpPr>
        <p:spPr>
          <a:xfrm>
            <a:off x="4800600" y="4023360"/>
            <a:ext cx="1280160" cy="914400"/>
          </a:xfrm>
          <a:prstGeom prst="rect">
            <a:avLst/>
          </a:prstGeom>
          <a:noFill/>
          <a:ln/>
        </p:spPr>
        <p:txBody>
          <a:bodyPr wrap="square" lIns="0" tIns="0" rIns="0" bIns="0" rtlCol="0" anchor="ctr"/>
          <a:lstStyle/>
          <a:p>
            <a:pPr indent="0" marL="0">
              <a:buNone/>
            </a:pPr>
            <a:r>
              <a:rPr lang="en-US" sz="6000" b="1" dirty="0">
                <a:solidFill>
                  <a:schemeClr val="tx1"/>
                </a:solidFill>
              </a:rPr>
              <a:t>1</a:t>
            </a:r>
            <a:endParaRPr lang="en-US" sz="6000" dirty="0"/>
          </a:p>
        </p:txBody>
      </p:sp>
      <p:sp>
        <p:nvSpPr>
          <p:cNvPr id="24" name="Text 22"/>
          <p:cNvSpPr txBox="1"/>
          <p:nvPr/>
        </p:nvSpPr>
        <p:spPr>
          <a:xfrm>
            <a:off x="4800600" y="4983480"/>
            <a:ext cx="1325880" cy="640080"/>
          </a:xfrm>
          <a:prstGeom prst="rect">
            <a:avLst/>
          </a:prstGeom>
          <a:noFill/>
          <a:ln/>
        </p:spPr>
        <p:txBody>
          <a:bodyPr wrap="square" lIns="0" tIns="0" rIns="0" bIns="0" rtlCol="0" anchor="t"/>
          <a:lstStyle/>
          <a:p>
            <a:pPr indent="0" marL="0">
              <a:buNone/>
            </a:pPr>
            <a:r>
              <a:rPr lang="en-US" sz="1500" dirty="0">
                <a:solidFill>
                  <a:schemeClr val="accent6"/>
                </a:solidFill>
              </a:rPr>
              <a:t>public control</a:t>
            </a:r>
            <a:endParaRPr lang="en-US" sz="1500" dirty="0"/>
          </a:p>
        </p:txBody>
      </p:sp>
      <p:sp>
        <p:nvSpPr>
          <p:cNvPr id="25" name="Text 23"/>
          <p:cNvSpPr txBox="1"/>
          <p:nvPr/>
        </p:nvSpPr>
        <p:spPr>
          <a:xfrm>
            <a:off x="6492240" y="3657600"/>
            <a:ext cx="45720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4 METRICS</a:t>
            </a:r>
            <a:endParaRPr lang="en-US" sz="1200" dirty="0"/>
          </a:p>
        </p:txBody>
      </p:sp>
      <p:sp>
        <p:nvSpPr>
          <p:cNvPr id="26" name="Text 24"/>
          <p:cNvSpPr txBox="1"/>
          <p:nvPr/>
        </p:nvSpPr>
        <p:spPr>
          <a:xfrm>
            <a:off x="6492240" y="4023360"/>
            <a:ext cx="5120640" cy="20116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Accuracy: </a:t>
            </a:r>
            <a:pPr indent="0" marL="0">
              <a:spcAft>
                <a:spcPts val="600"/>
              </a:spcAft>
              <a:buNone/>
            </a:pPr>
            <a:r>
              <a:rPr lang="en-US" sz="1700" dirty="0">
                <a:solidFill>
                  <a:schemeClr val="tx1"/>
                </a:solidFill>
              </a:rPr>
              <a:t>share of key facts in the answer</a:t>
            </a:r>
            <a:endParaRPr lang="en-US" sz="1700" dirty="0"/>
          </a:p>
          <a:p>
            <a:pPr indent="0" marL="0">
              <a:spcAft>
                <a:spcPts val="600"/>
              </a:spcAft>
              <a:buNone/>
            </a:pPr>
            <a:r>
              <a:rPr lang="en-US" sz="1700" b="1" dirty="0">
                <a:solidFill>
                  <a:schemeClr val="tx1"/>
                </a:solidFill>
              </a:rPr>
              <a:t>Abstention: </a:t>
            </a:r>
            <a:pPr indent="0" marL="0">
              <a:spcAft>
                <a:spcPts val="600"/>
              </a:spcAft>
              <a:buNone/>
            </a:pPr>
            <a:r>
              <a:rPr lang="en-US" sz="1700" dirty="0">
                <a:solidFill>
                  <a:schemeClr val="tx1"/>
                </a:solidFill>
              </a:rPr>
              <a:t>declines when the docs don't cover it</a:t>
            </a:r>
            <a:endParaRPr lang="en-US" sz="1700" dirty="0"/>
          </a:p>
          <a:p>
            <a:pPr indent="0" marL="0">
              <a:spcAft>
                <a:spcPts val="600"/>
              </a:spcAft>
              <a:buNone/>
            </a:pPr>
            <a:r>
              <a:rPr lang="en-US" sz="1700" b="1" dirty="0">
                <a:solidFill>
                  <a:schemeClr val="tx1"/>
                </a:solidFill>
              </a:rPr>
              <a:t>Hallucination: </a:t>
            </a:r>
            <a:pPr indent="0" marL="0">
              <a:spcAft>
                <a:spcPts val="600"/>
              </a:spcAft>
              <a:buNone/>
            </a:pPr>
            <a:r>
              <a:rPr lang="en-US" sz="1700" dirty="0">
                <a:solidFill>
                  <a:schemeClr val="tx1"/>
                </a:solidFill>
              </a:rPr>
              <a:t>states a value not in the docs</a:t>
            </a:r>
            <a:endParaRPr lang="en-US" sz="1700" dirty="0"/>
          </a:p>
          <a:p>
            <a:pPr indent="0" marL="0">
              <a:spcAft>
                <a:spcPts val="600"/>
              </a:spcAft>
              <a:buNone/>
            </a:pPr>
            <a:r>
              <a:rPr lang="en-US" sz="1700" b="1" dirty="0">
                <a:solidFill>
                  <a:schemeClr val="tx1"/>
                </a:solidFill>
              </a:rPr>
              <a:t>Retrieval hit: </a:t>
            </a:r>
            <a:pPr indent="0" marL="0">
              <a:spcAft>
                <a:spcPts val="600"/>
              </a:spcAft>
              <a:buNone/>
            </a:pPr>
            <a:r>
              <a:rPr lang="en-US" sz="1700" dirty="0">
                <a:solidFill>
                  <a:schemeClr val="tx1"/>
                </a:solidFill>
              </a:rPr>
              <a:t>right file in the top 4</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ANALYTICAL PROCESS  ·  STEP 1</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Index: split by heading, not by size</a:t>
            </a:r>
            <a:endParaRPr lang="en-US" sz="3600" dirty="0"/>
          </a:p>
        </p:txBody>
      </p:sp>
      <p:sp>
        <p:nvSpPr>
          <p:cNvPr id="4" name="split code card"/>
          <p:cNvSpPr/>
          <p:nvPr/>
        </p:nvSpPr>
        <p:spPr>
          <a:xfrm>
            <a:off x="548640" y="1600200"/>
            <a:ext cx="7223760" cy="4114800"/>
          </a:xfrm>
          <a:prstGeom prst="roundRect">
            <a:avLst>
              <a:gd name="adj" fmla="val 1778"/>
            </a:avLst>
          </a:prstGeom>
          <a:solidFill>
            <a:schemeClr val="tx2"/>
          </a:solidFill>
          <a:ln w="12700">
            <a:solidFill>
              <a:schemeClr val="tx2"/>
            </a:solidFill>
            <a:prstDash val="solid"/>
          </a:ln>
        </p:spPr>
      </p:sp>
      <p:sp>
        <p:nvSpPr>
          <p:cNvPr id="5" name="split code file"/>
          <p:cNvSpPr txBox="1"/>
          <p:nvPr/>
        </p:nvSpPr>
        <p:spPr>
          <a:xfrm>
            <a:off x="822960" y="1764792"/>
            <a:ext cx="667512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rag_core.py</a:t>
            </a:r>
            <a:endParaRPr lang="en-US" sz="1200" dirty="0"/>
          </a:p>
        </p:txBody>
      </p:sp>
      <p:sp>
        <p:nvSpPr>
          <p:cNvPr id="6" name="split code text"/>
          <p:cNvSpPr txBox="1"/>
          <p:nvPr/>
        </p:nvSpPr>
        <p:spPr>
          <a:xfrm>
            <a:off x="822960" y="2148840"/>
            <a:ext cx="6675120" cy="3383280"/>
          </a:xfrm>
          <a:prstGeom prst="rect">
            <a:avLst/>
          </a:prstGeom>
          <a:noFill/>
          <a:ln/>
        </p:spPr>
        <p:txBody>
          <a:bodyPr wrap="square" lIns="0" tIns="0" rIns="0" bIns="0" rtlCol="0" anchor="t"/>
          <a:lstStyle/>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HEADERS =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"h1"</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"h2"</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"h3"</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def</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split_docs(docs, chunk_size=1200, chunk_overlap=150):</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header_splitter = MarkdownHeaderTextSplitter(</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HEADERS, strip_headers=False)</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size_splitter = RecursiveCharacterTextSplitter(</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chunk_size=chunk_size, chunk_overlap=chunk_overlap)</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chunks = []</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for</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doc </a:t>
            </a:r>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in</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docs: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sections = header_splitter.split_text(doc.page_content)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for</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section </a:t>
            </a:r>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in</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size_splitter.split_documents(sections):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section.metadata[</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"source"</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 doc.metadata[</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"source"</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chunks.append(section)  </a:t>
            </a:r>
            <a:pPr indent="0" marL="0">
              <a:lnSpc>
                <a:spcPct val="100000"/>
              </a:lnSpc>
              <a:buNone/>
            </a:pPr>
            <a:r>
              <a:rPr lang="en-US" sz="1300" i="1" dirty="0">
                <a:solidFill>
                  <a:srgbClr val="8D99AE"/>
                </a:solidFill>
                <a:latin typeface="Courier New" pitchFamily="34" charset="0"/>
                <a:ea typeface="Courier New" pitchFamily="34" charset="-122"/>
                <a:cs typeface="Courier New" pitchFamily="34" charset="-120"/>
              </a:rPr>
              <a:t># + heading path for citing</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return</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chunks</a:t>
            </a:r>
            <a:endParaRPr lang="en-US" sz="1300" dirty="0"/>
          </a:p>
        </p:txBody>
      </p:sp>
      <p:sp>
        <p:nvSpPr>
          <p:cNvPr id="7" name="Text 5"/>
          <p:cNvSpPr txBox="1"/>
          <p:nvPr/>
        </p:nvSpPr>
        <p:spPr>
          <a:xfrm>
            <a:off x="8138160" y="1691640"/>
            <a:ext cx="3474720" cy="914400"/>
          </a:xfrm>
          <a:prstGeom prst="rect">
            <a:avLst/>
          </a:prstGeom>
          <a:noFill/>
          <a:ln/>
        </p:spPr>
        <p:txBody>
          <a:bodyPr wrap="square" lIns="0" tIns="0" rIns="0" bIns="0" rtlCol="0" anchor="ctr"/>
          <a:lstStyle/>
          <a:p>
            <a:pPr indent="0" marL="0">
              <a:buNone/>
            </a:pPr>
            <a:r>
              <a:rPr lang="en-US" sz="6000" b="1" dirty="0">
                <a:solidFill>
                  <a:schemeClr val="tx1"/>
                </a:solidFill>
              </a:rPr>
              <a:t>12 → 55</a:t>
            </a:r>
            <a:endParaRPr lang="en-US" sz="6000" dirty="0"/>
          </a:p>
        </p:txBody>
      </p:sp>
      <p:sp>
        <p:nvSpPr>
          <p:cNvPr id="8" name="Text 6"/>
          <p:cNvSpPr txBox="1"/>
          <p:nvPr/>
        </p:nvSpPr>
        <p:spPr>
          <a:xfrm>
            <a:off x="8138160" y="2606040"/>
            <a:ext cx="3474720" cy="365760"/>
          </a:xfrm>
          <a:prstGeom prst="rect">
            <a:avLst/>
          </a:prstGeom>
          <a:noFill/>
          <a:ln/>
        </p:spPr>
        <p:txBody>
          <a:bodyPr wrap="square" lIns="0" tIns="0" rIns="0" bIns="0" rtlCol="0" anchor="ctr"/>
          <a:lstStyle/>
          <a:p>
            <a:pPr indent="0" marL="0">
              <a:buNone/>
            </a:pPr>
            <a:r>
              <a:rPr lang="en-US" sz="1600" dirty="0">
                <a:solidFill>
                  <a:schemeClr val="accent6"/>
                </a:solidFill>
              </a:rPr>
              <a:t>docs become chunks</a:t>
            </a:r>
            <a:endParaRPr lang="en-US" sz="1600" dirty="0"/>
          </a:p>
        </p:txBody>
      </p:sp>
      <p:sp>
        <p:nvSpPr>
          <p:cNvPr id="9" name="why card"/>
          <p:cNvSpPr/>
          <p:nvPr/>
        </p:nvSpPr>
        <p:spPr>
          <a:xfrm>
            <a:off x="8138160" y="3291840"/>
            <a:ext cx="3474720" cy="2423160"/>
          </a:xfrm>
          <a:prstGeom prst="roundRect">
            <a:avLst>
              <a:gd name="adj" fmla="val 3019"/>
            </a:avLst>
          </a:prstGeom>
          <a:solidFill>
            <a:srgbClr val="FFF4D6"/>
          </a:solidFill>
          <a:ln w="12700">
            <a:solidFill>
              <a:srgbClr val="FFF4D6"/>
            </a:solidFill>
            <a:prstDash val="solid"/>
          </a:ln>
        </p:spPr>
      </p:sp>
      <p:sp>
        <p:nvSpPr>
          <p:cNvPr id="10" name="Text 8"/>
          <p:cNvSpPr txBox="1"/>
          <p:nvPr/>
        </p:nvSpPr>
        <p:spPr>
          <a:xfrm>
            <a:off x="8366760" y="3474720"/>
            <a:ext cx="3017520" cy="21488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Why headings?</a:t>
            </a:r>
            <a:endParaRPr lang="en-US" sz="1800" dirty="0"/>
          </a:p>
          <a:p>
            <a:pPr indent="0" marL="0">
              <a:spcAft>
                <a:spcPts val="600"/>
              </a:spcAft>
              <a:buNone/>
            </a:pPr>
            <a:r>
              <a:rPr lang="en-US" sz="1500" dirty="0">
                <a:solidFill>
                  <a:schemeClr val="tx1"/>
                </a:solidFill>
              </a:rPr>
              <a:t>Splitting every 1,000 characters can separate a value from the heading that says which co-op it applies to. Heading splits keep them together, and each chunk keeps its file name for the citation.</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ANALYTICAL PROCESS  ·  STEP 2</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Retrieve the top 4 chunks</a:t>
            </a:r>
            <a:endParaRPr lang="en-US" sz="3600" dirty="0"/>
          </a:p>
        </p:txBody>
      </p:sp>
      <p:sp>
        <p:nvSpPr>
          <p:cNvPr id="4" name="retrieve code card"/>
          <p:cNvSpPr/>
          <p:nvPr/>
        </p:nvSpPr>
        <p:spPr>
          <a:xfrm>
            <a:off x="548640" y="1600200"/>
            <a:ext cx="11064240" cy="1691640"/>
          </a:xfrm>
          <a:prstGeom prst="roundRect">
            <a:avLst>
              <a:gd name="adj" fmla="val 4324"/>
            </a:avLst>
          </a:prstGeom>
          <a:solidFill>
            <a:schemeClr val="tx2"/>
          </a:solidFill>
          <a:ln w="12700">
            <a:solidFill>
              <a:schemeClr val="tx2"/>
            </a:solidFill>
            <a:prstDash val="solid"/>
          </a:ln>
        </p:spPr>
      </p:sp>
      <p:sp>
        <p:nvSpPr>
          <p:cNvPr id="5" name="retrieve code file"/>
          <p:cNvSpPr txBox="1"/>
          <p:nvPr/>
        </p:nvSpPr>
        <p:spPr>
          <a:xfrm>
            <a:off x="822960" y="1764792"/>
            <a:ext cx="1051560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UtilityRAG.ipynb  ·  Part 3</a:t>
            </a:r>
            <a:endParaRPr lang="en-US" sz="1200" dirty="0"/>
          </a:p>
        </p:txBody>
      </p:sp>
      <p:sp>
        <p:nvSpPr>
          <p:cNvPr id="6" name="retrieve code text"/>
          <p:cNvSpPr txBox="1"/>
          <p:nvPr/>
        </p:nvSpPr>
        <p:spPr>
          <a:xfrm>
            <a:off x="822960" y="2148840"/>
            <a:ext cx="10515600" cy="960120"/>
          </a:xfrm>
          <a:prstGeom prst="rect">
            <a:avLst/>
          </a:prstGeom>
          <a:noFill/>
          <a:ln/>
        </p:spPr>
        <p:txBody>
          <a:bodyPr wrap="square" lIns="0" tIns="0" rIns="0" bIns="0" rtlCol="0" anchor="t"/>
          <a:lstStyle/>
          <a:p>
            <a:pPr indent="0" marL="0">
              <a:lnSpc>
                <a:spcPct val="100000"/>
              </a:lnSpc>
              <a:buNone/>
            </a:pPr>
            <a:r>
              <a:rPr lang="en-US" sz="1400" dirty="0">
                <a:solidFill>
                  <a:srgbClr val="E6EDF3"/>
                </a:solidFill>
                <a:latin typeface="Courier New" pitchFamily="34" charset="0"/>
                <a:ea typeface="Courier New" pitchFamily="34" charset="-122"/>
                <a:cs typeface="Courier New" pitchFamily="34" charset="-120"/>
              </a:rPr>
              <a:t>retriever = vectorstore.as_retriever(search_kwargs={</a:t>
            </a:r>
            <a:pPr indent="0" marL="0">
              <a:lnSpc>
                <a:spcPct val="100000"/>
              </a:lnSpc>
              <a:buNone/>
            </a:pPr>
            <a:r>
              <a:rPr lang="en-US" sz="1400" dirty="0">
                <a:solidFill>
                  <a:srgbClr val="9FD8CB"/>
                </a:solidFill>
                <a:latin typeface="Courier New" pitchFamily="34" charset="0"/>
                <a:ea typeface="Courier New" pitchFamily="34" charset="-122"/>
                <a:cs typeface="Courier New" pitchFamily="34" charset="-120"/>
              </a:rPr>
              <a:t>"k"</a:t>
            </a:r>
            <a:pPr indent="0" marL="0">
              <a:lnSpc>
                <a:spcPct val="100000"/>
              </a:lnSpc>
              <a:buNone/>
            </a:pPr>
            <a:r>
              <a:rPr lang="en-US" sz="1400" dirty="0">
                <a:solidFill>
                  <a:srgbClr val="E6EDF3"/>
                </a:solidFill>
                <a:latin typeface="Courier New" pitchFamily="34" charset="0"/>
                <a:ea typeface="Courier New" pitchFamily="34" charset="-122"/>
                <a:cs typeface="Courier New" pitchFamily="34" charset="-120"/>
              </a:rPr>
              <a:t>: 4})</a:t>
            </a:r>
            <a:endParaRPr lang="en-US" sz="1400" dirty="0"/>
          </a:p>
          <a:p>
            <a:pPr indent="0" marL="0">
              <a:lnSpc>
                <a:spcPct val="100000"/>
              </a:lnSpc>
              <a:buNone/>
            </a:pPr>
            <a:r>
              <a:rPr lang="en-US" sz="1400" dirty="0">
                <a:solidFill>
                  <a:srgbClr val="E6EDF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E6EDF3"/>
                </a:solidFill>
                <a:latin typeface="Courier New" pitchFamily="34" charset="0"/>
                <a:ea typeface="Courier New" pitchFamily="34" charset="-122"/>
                <a:cs typeface="Courier New" pitchFamily="34" charset="-120"/>
              </a:rPr>
              <a:t>question = </a:t>
            </a:r>
            <a:pPr indent="0" marL="0">
              <a:lnSpc>
                <a:spcPct val="100000"/>
              </a:lnSpc>
              <a:buNone/>
            </a:pPr>
            <a:r>
              <a:rPr lang="en-US" sz="1400" dirty="0">
                <a:solidFill>
                  <a:srgbClr val="9FD8CB"/>
                </a:solidFill>
                <a:latin typeface="Courier New" pitchFamily="34" charset="0"/>
                <a:ea typeface="Courier New" pitchFamily="34" charset="-122"/>
                <a:cs typeface="Courier New" pitchFamily="34" charset="-120"/>
              </a:rPr>
              <a:t>"What snapping tolerance should I use for Prairie Wind Rural Electric?"</a:t>
            </a:r>
            <a:endParaRPr lang="en-US" sz="1400" dirty="0"/>
          </a:p>
          <a:p>
            <a:pPr indent="0" marL="0">
              <a:lnSpc>
                <a:spcPct val="100000"/>
              </a:lnSpc>
              <a:buNone/>
            </a:pPr>
            <a:r>
              <a:rPr lang="en-US" sz="1400" dirty="0">
                <a:solidFill>
                  <a:srgbClr val="E6EDF3"/>
                </a:solidFill>
                <a:latin typeface="Courier New" pitchFamily="34" charset="0"/>
                <a:ea typeface="Courier New" pitchFamily="34" charset="-122"/>
                <a:cs typeface="Courier New" pitchFamily="34" charset="-120"/>
              </a:rPr>
              <a:t>vectorstore.similarity_search_with_score(question, k=4)</a:t>
            </a:r>
            <a:endParaRPr lang="en-US" sz="1400" dirty="0"/>
          </a:p>
        </p:txBody>
      </p:sp>
      <p:sp>
        <p:nvSpPr>
          <p:cNvPr id="7" name="Text 5"/>
          <p:cNvSpPr txBox="1"/>
          <p:nvPr/>
        </p:nvSpPr>
        <p:spPr>
          <a:xfrm>
            <a:off x="548640" y="3611880"/>
            <a:ext cx="73152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OUTPUT  (distance: lower = closer match)</a:t>
            </a:r>
            <a:endParaRPr lang="en-US" sz="1200" dirty="0"/>
          </a:p>
        </p:txBody>
      </p:sp>
      <p:graphicFrame>
        <p:nvGraphicFramePr>
          <p:cNvPr id="9" name="retrieval output"/>
          <p:cNvGraphicFramePr>
            <a:graphicFrameLocks noGrp="1"/>
          </p:cNvGraphicFramePr>
          <p:nvPr>
            <p:extLst>
              <p:ext uri="{D42A27DB-BD31-4B8C-83A1-F6EECF244321}">
                <p14:modId xmlns:p14="http://schemas.microsoft.com/office/powerpoint/2010/main" val="1579011935"/>
              </p:ext>
            </p:extLst>
          </p:nvPr>
        </p:nvGraphicFramePr>
        <p:xfrm>
          <a:off x="548640" y="3977640"/>
          <a:ext cx="7589520" cy="914400"/>
        </p:xfrm>
        <a:graphic>
          <a:graphicData uri="http://schemas.openxmlformats.org/drawingml/2006/table">
            <a:tbl>
              <a:tblPr/>
              <a:tblGrid>
                <a:gridCol w="1097280"/>
                <a:gridCol w="2651760"/>
                <a:gridCol w="3840480"/>
              </a:tblGrid>
              <a:tr h="411480">
                <a:tc>
                  <a:txBody>
                    <a:bodyPr/>
                    <a:lstStyle/>
                    <a:p>
                      <a:pPr indent="0" marL="0">
                        <a:buNone/>
                      </a:pPr>
                      <a:r>
                        <a:rPr lang="en-US" sz="1400" b="1" dirty="0">
                          <a:solidFill>
                            <a:schemeClr val="bg1"/>
                          </a:solidFill>
                        </a:rPr>
                        <a:t>Distance</a:t>
                      </a:r>
                      <a:endParaRPr lang="en-US" sz="14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File</a:t>
                      </a:r>
                      <a:endParaRPr lang="en-US" sz="14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Section</a:t>
                      </a:r>
                      <a:endParaRPr lang="en-US" sz="14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chemeClr val="tx1"/>
                    </a:solidFill>
                  </a:tcPr>
                </a:tc>
              </a:tr>
              <a:tr h="411480">
                <a:tc>
                  <a:txBody>
                    <a:bodyPr/>
                    <a:lstStyle/>
                    <a:p>
                      <a:pPr indent="0" marL="0">
                        <a:buNone/>
                      </a:pPr>
                      <a:r>
                        <a:rPr lang="en-US" sz="1500" b="1" dirty="0">
                          <a:solidFill>
                            <a:schemeClr val="tx1"/>
                          </a:solidFill>
                        </a:rPr>
                        <a:t>0.860</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4D6"/>
                    </a:solidFill>
                  </a:tcPr>
                </a:tc>
                <a:tc>
                  <a:txBody>
                    <a:bodyPr/>
                    <a:lstStyle/>
                    <a:p>
                      <a:pPr indent="0" marL="0">
                        <a:buNone/>
                      </a:pPr>
                      <a:r>
                        <a:rPr lang="en-US" sz="1500" b="1" dirty="0">
                          <a:solidFill>
                            <a:schemeClr val="tx1"/>
                          </a:solidFill>
                        </a:rPr>
                        <a:t>08_coop_prairie_wind.md</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4D6"/>
                    </a:solidFill>
                  </a:tcPr>
                </a:tc>
                <a:tc>
                  <a:txBody>
                    <a:bodyPr/>
                    <a:lstStyle/>
                    <a:p>
                      <a:pPr indent="0" marL="0">
                        <a:buNone/>
                      </a:pPr>
                      <a:r>
                        <a:rPr lang="en-US" sz="1500" b="1" dirty="0">
                          <a:solidFill>
                            <a:schemeClr val="tx1"/>
                          </a:solidFill>
                        </a:rPr>
                        <a:t>QA Exceptions &gt; Snapping Tolerance</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4D6"/>
                    </a:solidFill>
                  </a:tcPr>
                </a:tc>
              </a:tr>
              <a:tr h="411480">
                <a:tc>
                  <a:txBody>
                    <a:bodyPr/>
                    <a:lstStyle/>
                    <a:p>
                      <a:pPr indent="0" marL="0">
                        <a:buNone/>
                      </a:pPr>
                      <a:r>
                        <a:rPr lang="en-US" sz="1500" dirty="0">
                          <a:solidFill>
                            <a:schemeClr val="tx1"/>
                          </a:solidFill>
                        </a:rPr>
                        <a:t>0.900</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500" dirty="0">
                          <a:solidFill>
                            <a:schemeClr val="tx1"/>
                          </a:solidFill>
                        </a:rPr>
                        <a:t>04_qa_thresholds.md</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500" dirty="0">
                          <a:solidFill>
                            <a:schemeClr val="tx1"/>
                          </a:solidFill>
                        </a:rPr>
                        <a:t>Connectivity Checks (the 0.04 ft default)</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11480">
                <a:tc>
                  <a:txBody>
                    <a:bodyPr/>
                    <a:lstStyle/>
                    <a:p>
                      <a:pPr indent="0" marL="0">
                        <a:buNone/>
                      </a:pPr>
                      <a:r>
                        <a:rPr lang="en-US" sz="1500" dirty="0">
                          <a:solidFill>
                            <a:schemeClr val="tx1"/>
                          </a:solidFill>
                        </a:rPr>
                        <a:t>1.115</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500" dirty="0">
                          <a:solidFill>
                            <a:schemeClr val="tx1"/>
                          </a:solidFill>
                        </a:rPr>
                        <a:t>04_qa_thresholds.md</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500" dirty="0">
                          <a:solidFill>
                            <a:schemeClr val="tx1"/>
                          </a:solidFill>
                        </a:rPr>
                        <a:t>Attribute Checks</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r h="411480">
                <a:tc>
                  <a:txBody>
                    <a:bodyPr/>
                    <a:lstStyle/>
                    <a:p>
                      <a:pPr indent="0" marL="0">
                        <a:buNone/>
                      </a:pPr>
                      <a:r>
                        <a:rPr lang="en-US" sz="1500" dirty="0">
                          <a:solidFill>
                            <a:schemeClr val="tx1"/>
                          </a:solidFill>
                        </a:rPr>
                        <a:t>1.116</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500" dirty="0">
                          <a:solidFill>
                            <a:schemeClr val="tx1"/>
                          </a:solidFill>
                        </a:rPr>
                        <a:t>08_coop_prairie_wind.md</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c>
                  <a:txBody>
                    <a:bodyPr/>
                    <a:lstStyle/>
                    <a:p>
                      <a:pPr indent="0" marL="0">
                        <a:buNone/>
                      </a:pPr>
                      <a:r>
                        <a:rPr lang="en-US" sz="1500" dirty="0">
                          <a:solidFill>
                            <a:schemeClr val="tx1"/>
                          </a:solidFill>
                        </a:rPr>
                        <a:t>Page introduction</a:t>
                      </a:r>
                      <a:endParaRPr lang="en-US" sz="1500" dirty="0"/>
                    </a:p>
                  </a:txBody>
                  <a:tcPr marL="73152" marR="73152" marT="0" marB="0"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tcPr>
                </a:tc>
              </a:tr>
            </a:tbl>
          </a:graphicData>
        </a:graphic>
      </p:graphicFrame>
      <p:sp>
        <p:nvSpPr>
          <p:cNvPr id="9" name="takeaway card"/>
          <p:cNvSpPr/>
          <p:nvPr/>
        </p:nvSpPr>
        <p:spPr>
          <a:xfrm>
            <a:off x="8458200" y="3611880"/>
            <a:ext cx="3154680" cy="2423160"/>
          </a:xfrm>
          <a:prstGeom prst="roundRect">
            <a:avLst>
              <a:gd name="adj" fmla="val 3019"/>
            </a:avLst>
          </a:prstGeom>
          <a:solidFill>
            <a:schemeClr val="bg2"/>
          </a:solidFill>
          <a:ln w="12700">
            <a:solidFill>
              <a:schemeClr val="bg2"/>
            </a:solidFill>
            <a:prstDash val="solid"/>
          </a:ln>
        </p:spPr>
      </p:sp>
      <p:sp>
        <p:nvSpPr>
          <p:cNvPr id="10" name="search icon circle"/>
          <p:cNvSpPr/>
          <p:nvPr/>
        </p:nvSpPr>
        <p:spPr>
          <a:xfrm>
            <a:off x="8686800" y="3840480"/>
            <a:ext cx="548640" cy="548640"/>
          </a:xfrm>
          <a:prstGeom prst="ellipse">
            <a:avLst/>
          </a:prstGeom>
          <a:solidFill>
            <a:schemeClr val="accent1"/>
          </a:solidFill>
          <a:ln w="12700">
            <a:solidFill>
              <a:schemeClr val="accent1"/>
            </a:solidFill>
            <a:prstDash val="solid"/>
          </a:ln>
        </p:spPr>
      </p:sp>
      <p:pic>
        <p:nvPicPr>
          <p:cNvPr id="11" name="search icon" descr="search icon">    </p:cNvPr>
          <p:cNvPicPr>
            <a:picLocks noChangeAspect="1"/>
          </p:cNvPicPr>
          <p:nvPr/>
        </p:nvPicPr>
        <p:blipFill>
          <a:blip r:embed="rId1"/>
          <a:stretch>
            <a:fillRect/>
          </a:stretch>
        </p:blipFill>
        <p:spPr>
          <a:xfrm>
            <a:off x="8823960" y="3977640"/>
            <a:ext cx="274320" cy="274320"/>
          </a:xfrm>
          <a:prstGeom prst="rect">
            <a:avLst/>
          </a:prstGeom>
        </p:spPr>
      </p:pic>
      <p:sp>
        <p:nvSpPr>
          <p:cNvPr id="12" name="Text 8"/>
          <p:cNvSpPr txBox="1"/>
          <p:nvPr/>
        </p:nvSpPr>
        <p:spPr>
          <a:xfrm>
            <a:off x="8686800" y="4572000"/>
            <a:ext cx="2743200" cy="1325880"/>
          </a:xfrm>
          <a:prstGeom prst="rect">
            <a:avLst/>
          </a:prstGeom>
          <a:noFill/>
          <a:ln/>
        </p:spPr>
        <p:txBody>
          <a:bodyPr wrap="square" lIns="0" tIns="0" rIns="0" bIns="0" rtlCol="0" anchor="t"/>
          <a:lstStyle/>
          <a:p>
            <a:pPr indent="0" marL="0">
              <a:buNone/>
            </a:pPr>
            <a:r>
              <a:rPr lang="en-US" sz="1600" dirty="0">
                <a:solidFill>
                  <a:schemeClr val="tx1"/>
                </a:solidFill>
              </a:rPr>
              <a:t>The co-op exception outranks the general default: the trap works as intended.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ANALYTICAL PROCESS  ·  STEP 3</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Generate: cite the source or abstain</a:t>
            </a:r>
            <a:endParaRPr lang="en-US" sz="3600" dirty="0"/>
          </a:p>
        </p:txBody>
      </p:sp>
      <p:sp>
        <p:nvSpPr>
          <p:cNvPr id="4" name="prompt code card"/>
          <p:cNvSpPr/>
          <p:nvPr/>
        </p:nvSpPr>
        <p:spPr>
          <a:xfrm>
            <a:off x="548640" y="1600200"/>
            <a:ext cx="6400800" cy="4343400"/>
          </a:xfrm>
          <a:prstGeom prst="roundRect">
            <a:avLst>
              <a:gd name="adj" fmla="val 1684"/>
            </a:avLst>
          </a:prstGeom>
          <a:solidFill>
            <a:schemeClr val="tx2"/>
          </a:solidFill>
          <a:ln w="12700">
            <a:solidFill>
              <a:schemeClr val="tx2"/>
            </a:solidFill>
            <a:prstDash val="solid"/>
          </a:ln>
        </p:spPr>
      </p:sp>
      <p:sp>
        <p:nvSpPr>
          <p:cNvPr id="5" name="prompt code file"/>
          <p:cNvSpPr txBox="1"/>
          <p:nvPr/>
        </p:nvSpPr>
        <p:spPr>
          <a:xfrm>
            <a:off x="822960" y="1764792"/>
            <a:ext cx="585216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rag_core.py  ·  RAG_TEMPLATE</a:t>
            </a:r>
            <a:endParaRPr lang="en-US" sz="1200" dirty="0"/>
          </a:p>
        </p:txBody>
      </p:sp>
      <p:sp>
        <p:nvSpPr>
          <p:cNvPr id="6" name="prompt code text"/>
          <p:cNvSpPr txBox="1"/>
          <p:nvPr/>
        </p:nvSpPr>
        <p:spPr>
          <a:xfrm>
            <a:off x="822960" y="2148840"/>
            <a:ext cx="5852160" cy="3611880"/>
          </a:xfrm>
          <a:prstGeom prst="rect">
            <a:avLst/>
          </a:prstGeom>
          <a:noFill/>
          <a:ln/>
        </p:spPr>
        <p:txBody>
          <a:bodyPr wrap="square" lIns="0" tIns="0" rIns="0" bIns="0" rtlCol="0" anchor="t"/>
          <a:lstStyle/>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You are UtilityRAG, an assistant for GIS</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conversion analysts at GridLine Data Services.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Answer the question using ONLY the context</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below. Rules:</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 Cite the source file in square brackets</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  after each fact, e.g. [04_qa_thresholds.md].</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 Cooperative-specific pages override the</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  general standards when they conflict.</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 If the context does not contain the answer,</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  reply with exactly: not in the docs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Context:</a:t>
            </a:r>
            <a:endParaRPr lang="en-US" sz="1300" dirty="0"/>
          </a:p>
          <a:p>
            <a:pPr indent="0" marL="0">
              <a:lnSpc>
                <a:spcPct val="100000"/>
              </a:lnSpc>
              <a:buNone/>
            </a:pPr>
            <a:r>
              <a:rPr lang="en-US" sz="1300" b="1" dirty="0">
                <a:solidFill>
                  <a:srgbClr val="F2A900"/>
                </a:solidFill>
                <a:latin typeface="Courier New" pitchFamily="34" charset="0"/>
                <a:ea typeface="Courier New" pitchFamily="34" charset="-122"/>
                <a:cs typeface="Courier New" pitchFamily="34" charset="-120"/>
              </a:rPr>
              <a:t>{context}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Question: </a:t>
            </a:r>
            <a:pPr indent="0" marL="0">
              <a:lnSpc>
                <a:spcPct val="100000"/>
              </a:lnSpc>
              <a:buNone/>
            </a:pPr>
            <a:r>
              <a:rPr lang="en-US" sz="1300" b="1" dirty="0">
                <a:solidFill>
                  <a:srgbClr val="F2A900"/>
                </a:solidFill>
                <a:latin typeface="Courier New" pitchFamily="34" charset="0"/>
                <a:ea typeface="Courier New" pitchFamily="34" charset="-122"/>
                <a:cs typeface="Courier New" pitchFamily="34" charset="-120"/>
              </a:rPr>
              <a:t>{question}</a:t>
            </a:r>
            <a:endParaRPr lang="en-US" sz="1300" dirty="0"/>
          </a:p>
        </p:txBody>
      </p:sp>
      <p:sp>
        <p:nvSpPr>
          <p:cNvPr id="7" name="example 1"/>
          <p:cNvSpPr/>
          <p:nvPr/>
        </p:nvSpPr>
        <p:spPr>
          <a:xfrm>
            <a:off x="7269480" y="1600200"/>
            <a:ext cx="4343400" cy="2057400"/>
          </a:xfrm>
          <a:prstGeom prst="roundRect">
            <a:avLst>
              <a:gd name="adj" fmla="val 3556"/>
            </a:avLst>
          </a:prstGeom>
          <a:solidFill>
            <a:schemeClr val="bg2"/>
          </a:solidFill>
          <a:ln w="12700">
            <a:solidFill>
              <a:schemeClr val="bg2"/>
            </a:solidFill>
            <a:prstDash val="solid"/>
          </a:ln>
        </p:spPr>
      </p:sp>
      <p:sp>
        <p:nvSpPr>
          <p:cNvPr id="8" name="Text 6"/>
          <p:cNvSpPr txBox="1"/>
          <p:nvPr/>
        </p:nvSpPr>
        <p:spPr>
          <a:xfrm>
            <a:off x="7498080" y="1783080"/>
            <a:ext cx="3886200" cy="1691640"/>
          </a:xfrm>
          <a:prstGeom prst="rect">
            <a:avLst/>
          </a:prstGeom>
          <a:noFill/>
          <a:ln/>
        </p:spPr>
        <p:txBody>
          <a:bodyPr wrap="square" lIns="0" tIns="0" rIns="0" bIns="0" rtlCol="0" anchor="t"/>
          <a:lstStyle/>
          <a:p>
            <a:pPr indent="0" marL="0">
              <a:spcAft>
                <a:spcPts val="800"/>
              </a:spcAft>
              <a:buNone/>
            </a:pPr>
            <a:r>
              <a:rPr lang="en-US" sz="1400" b="1" dirty="0">
                <a:solidFill>
                  <a:schemeClr val="accent5"/>
                </a:solidFill>
              </a:rPr>
              <a:t>Q  </a:t>
            </a:r>
            <a:pPr indent="0" marL="0">
              <a:spcAft>
                <a:spcPts val="800"/>
              </a:spcAft>
              <a:buNone/>
            </a:pPr>
            <a:r>
              <a:rPr lang="en-US" sz="1400" dirty="0">
                <a:solidFill>
                  <a:schemeClr val="tx1"/>
                </a:solidFill>
              </a:rPr>
              <a:t>For Bluestem Valley, how are service points with source status RET mapped?</a:t>
            </a:r>
            <a:endParaRPr lang="en-US" sz="1400" dirty="0"/>
          </a:p>
          <a:p>
            <a:pPr indent="0" marL="0">
              <a:spcAft>
                <a:spcPts val="800"/>
              </a:spcAft>
              <a:buNone/>
            </a:pPr>
            <a:r>
              <a:rPr lang="en-US" sz="1400" b="1" dirty="0">
                <a:solidFill>
                  <a:schemeClr val="accent2"/>
                </a:solidFill>
              </a:rPr>
              <a:t>A  </a:t>
            </a:r>
            <a:pPr indent="0" marL="0">
              <a:spcAft>
                <a:spcPts val="800"/>
              </a:spcAft>
              <a:buNone/>
            </a:pPr>
            <a:r>
              <a:rPr lang="en-US" sz="1400" dirty="0">
                <a:solidFill>
                  <a:schemeClr val="tx1"/>
                </a:solidFill>
              </a:rPr>
              <a:t>RET maps to OPR_STAT_CD = OOS, with SRC_STAT=RET in CNV_NOTE. Points with no meter number also go to CNV_HOLD_SVC. [06_coop_bluestem_valley.md]</a:t>
            </a:r>
            <a:endParaRPr lang="en-US" sz="1400" dirty="0"/>
          </a:p>
        </p:txBody>
      </p:sp>
      <p:sp>
        <p:nvSpPr>
          <p:cNvPr id="9" name="example 2"/>
          <p:cNvSpPr/>
          <p:nvPr/>
        </p:nvSpPr>
        <p:spPr>
          <a:xfrm>
            <a:off x="7269480" y="3886200"/>
            <a:ext cx="4343400" cy="1234440"/>
          </a:xfrm>
          <a:prstGeom prst="roundRect">
            <a:avLst>
              <a:gd name="adj" fmla="val 5926"/>
            </a:avLst>
          </a:prstGeom>
          <a:solidFill>
            <a:schemeClr val="bg2"/>
          </a:solidFill>
          <a:ln w="12700">
            <a:solidFill>
              <a:schemeClr val="bg2"/>
            </a:solidFill>
            <a:prstDash val="solid"/>
          </a:ln>
        </p:spPr>
      </p:sp>
      <p:sp>
        <p:nvSpPr>
          <p:cNvPr id="10" name="Text 8"/>
          <p:cNvSpPr txBox="1"/>
          <p:nvPr/>
        </p:nvSpPr>
        <p:spPr>
          <a:xfrm>
            <a:off x="7498080" y="4069080"/>
            <a:ext cx="3886200" cy="868680"/>
          </a:xfrm>
          <a:prstGeom prst="rect">
            <a:avLst/>
          </a:prstGeom>
          <a:noFill/>
          <a:ln/>
        </p:spPr>
        <p:txBody>
          <a:bodyPr wrap="square" lIns="0" tIns="0" rIns="0" bIns="0" rtlCol="0" anchor="t"/>
          <a:lstStyle/>
          <a:p>
            <a:pPr indent="0" marL="0">
              <a:spcAft>
                <a:spcPts val="800"/>
              </a:spcAft>
              <a:buNone/>
            </a:pPr>
            <a:r>
              <a:rPr lang="en-US" sz="1400" b="1" dirty="0">
                <a:solidFill>
                  <a:schemeClr val="accent5"/>
                </a:solidFill>
              </a:rPr>
              <a:t>Q  </a:t>
            </a:r>
            <a:pPr indent="0" marL="0">
              <a:spcAft>
                <a:spcPts val="800"/>
              </a:spcAft>
              <a:buNone/>
            </a:pPr>
            <a:r>
              <a:rPr lang="en-US" sz="1400" dirty="0">
                <a:solidFill>
                  <a:schemeClr val="tx1"/>
                </a:solidFill>
              </a:rPr>
              <a:t>What is the maximum span length between poles for Bluestem Valley?</a:t>
            </a:r>
            <a:endParaRPr lang="en-US" sz="1400" dirty="0"/>
          </a:p>
          <a:p>
            <a:pPr indent="0" marL="0">
              <a:spcAft>
                <a:spcPts val="800"/>
              </a:spcAft>
              <a:buNone/>
            </a:pPr>
            <a:r>
              <a:rPr lang="en-US" sz="1400" b="1" dirty="0">
                <a:solidFill>
                  <a:schemeClr val="accent2"/>
                </a:solidFill>
              </a:rPr>
              <a:t>A  </a:t>
            </a:r>
            <a:pPr indent="0" marL="0">
              <a:spcAft>
                <a:spcPts val="800"/>
              </a:spcAft>
              <a:buNone/>
            </a:pPr>
            <a:r>
              <a:rPr lang="en-US" sz="1400" dirty="0">
                <a:solidFill>
                  <a:schemeClr val="tx1"/>
                </a:solidFill>
              </a:rPr>
              <a:t>not in the docs</a:t>
            </a:r>
            <a:endParaRPr lang="en-US" sz="1400" dirty="0"/>
          </a:p>
        </p:txBody>
      </p:sp>
      <p:sp>
        <p:nvSpPr>
          <p:cNvPr id="11" name="abstain note"/>
          <p:cNvSpPr/>
          <p:nvPr/>
        </p:nvSpPr>
        <p:spPr>
          <a:xfrm>
            <a:off x="7269480" y="5349240"/>
            <a:ext cx="4343400" cy="594360"/>
          </a:xfrm>
          <a:prstGeom prst="roundRect">
            <a:avLst>
              <a:gd name="adj" fmla="val 12308"/>
            </a:avLst>
          </a:prstGeom>
          <a:solidFill>
            <a:srgbClr val="FFF4D6"/>
          </a:solidFill>
          <a:ln w="12700">
            <a:solidFill>
              <a:srgbClr val="FFF4D6"/>
            </a:solidFill>
            <a:prstDash val="solid"/>
          </a:ln>
        </p:spPr>
      </p:sp>
      <p:sp>
        <p:nvSpPr>
          <p:cNvPr id="12" name="Text 10"/>
          <p:cNvSpPr txBox="1"/>
          <p:nvPr/>
        </p:nvSpPr>
        <p:spPr>
          <a:xfrm>
            <a:off x="7498080" y="5349240"/>
            <a:ext cx="3886200" cy="594360"/>
          </a:xfrm>
          <a:prstGeom prst="rect">
            <a:avLst/>
          </a:prstGeom>
          <a:noFill/>
          <a:ln/>
        </p:spPr>
        <p:txBody>
          <a:bodyPr wrap="square" lIns="0" tIns="0" rIns="0" bIns="0" rtlCol="0" anchor="ctr"/>
          <a:lstStyle/>
          <a:p>
            <a:pPr indent="0" marL="0">
              <a:buNone/>
            </a:pPr>
            <a:r>
              <a:rPr lang="en-US" sz="1600" b="1" dirty="0">
                <a:solidFill>
                  <a:schemeClr val="tx1"/>
                </a:solidFill>
              </a:rPr>
              <a:t>Saying “not in the docs” matters as much as answering.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ANALYTICAL PROCESS  ·  STEP 4</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Same model, with and without docs</a:t>
            </a:r>
            <a:endParaRPr lang="en-US" sz="3600" dirty="0"/>
          </a:p>
        </p:txBody>
      </p:sp>
      <p:sp>
        <p:nvSpPr>
          <p:cNvPr id="4" name="rag chain code card"/>
          <p:cNvSpPr/>
          <p:nvPr/>
        </p:nvSpPr>
        <p:spPr>
          <a:xfrm>
            <a:off x="548640" y="1600200"/>
            <a:ext cx="6172200" cy="4023360"/>
          </a:xfrm>
          <a:prstGeom prst="roundRect">
            <a:avLst>
              <a:gd name="adj" fmla="val 1818"/>
            </a:avLst>
          </a:prstGeom>
          <a:solidFill>
            <a:schemeClr val="tx2"/>
          </a:solidFill>
          <a:ln w="12700">
            <a:solidFill>
              <a:schemeClr val="tx2"/>
            </a:solidFill>
            <a:prstDash val="solid"/>
          </a:ln>
        </p:spPr>
      </p:sp>
      <p:sp>
        <p:nvSpPr>
          <p:cNvPr id="5" name="rag chain code file"/>
          <p:cNvSpPr txBox="1"/>
          <p:nvPr/>
        </p:nvSpPr>
        <p:spPr>
          <a:xfrm>
            <a:off x="822960" y="1764792"/>
            <a:ext cx="562356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rag_core.py  ·  RAG chain</a:t>
            </a:r>
            <a:endParaRPr lang="en-US" sz="1200" dirty="0"/>
          </a:p>
        </p:txBody>
      </p:sp>
      <p:sp>
        <p:nvSpPr>
          <p:cNvPr id="6" name="rag chain code text"/>
          <p:cNvSpPr txBox="1"/>
          <p:nvPr/>
        </p:nvSpPr>
        <p:spPr>
          <a:xfrm>
            <a:off x="822960" y="2148840"/>
            <a:ext cx="5623560" cy="3291840"/>
          </a:xfrm>
          <a:prstGeom prst="rect">
            <a:avLst/>
          </a:prstGeom>
          <a:noFill/>
          <a:ln/>
        </p:spPr>
        <p:txBody>
          <a:bodyPr wrap="square" lIns="0" tIns="0" rIns="0" bIns="0" rtlCol="0" anchor="t"/>
          <a:lstStyle/>
          <a:p>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def</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build_rag_chain(retriever, llm):</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answer = (</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RunnablePassthrough.assign(</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context=</a:t>
            </a:r>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lambda</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x: format_docs(x[</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"context"</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 rag_prompt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 llm</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 StrOutputParser()</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i="1" dirty="0">
                <a:solidFill>
                  <a:srgbClr val="8D99AE"/>
                </a:solidFill>
                <a:latin typeface="Courier New" pitchFamily="34" charset="0"/>
                <a:ea typeface="Courier New" pitchFamily="34" charset="-122"/>
                <a:cs typeface="Courier New" pitchFamily="34" charset="-120"/>
              </a:rPr>
              <a:t># keep the retrieved docs so we can</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i="1" dirty="0">
                <a:solidFill>
                  <a:srgbClr val="8D99AE"/>
                </a:solidFill>
                <a:latin typeface="Courier New" pitchFamily="34" charset="0"/>
                <a:ea typeface="Courier New" pitchFamily="34" charset="-122"/>
                <a:cs typeface="Courier New" pitchFamily="34" charset="-120"/>
              </a:rPr>
              <a:t># check which files came back</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return</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RunnableParallel(</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context=retriever,</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question=RunnablePassthrough(),</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).assign(answer=answer)</a:t>
            </a:r>
            <a:endParaRPr lang="en-US" sz="1300" dirty="0"/>
          </a:p>
        </p:txBody>
      </p:sp>
      <p:sp>
        <p:nvSpPr>
          <p:cNvPr id="7" name="baseline code card"/>
          <p:cNvSpPr/>
          <p:nvPr/>
        </p:nvSpPr>
        <p:spPr>
          <a:xfrm>
            <a:off x="6995160" y="1600200"/>
            <a:ext cx="4617720" cy="2514600"/>
          </a:xfrm>
          <a:prstGeom prst="roundRect">
            <a:avLst>
              <a:gd name="adj" fmla="val 2909"/>
            </a:avLst>
          </a:prstGeom>
          <a:solidFill>
            <a:schemeClr val="tx2"/>
          </a:solidFill>
          <a:ln w="12700">
            <a:solidFill>
              <a:schemeClr val="tx2"/>
            </a:solidFill>
            <a:prstDash val="solid"/>
          </a:ln>
        </p:spPr>
      </p:sp>
      <p:sp>
        <p:nvSpPr>
          <p:cNvPr id="8" name="baseline code file"/>
          <p:cNvSpPr txBox="1"/>
          <p:nvPr/>
        </p:nvSpPr>
        <p:spPr>
          <a:xfrm>
            <a:off x="7269480" y="1764792"/>
            <a:ext cx="406908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rag_core.py  ·  baselines</a:t>
            </a:r>
            <a:endParaRPr lang="en-US" sz="1200" dirty="0"/>
          </a:p>
        </p:txBody>
      </p:sp>
      <p:sp>
        <p:nvSpPr>
          <p:cNvPr id="9" name="baseline code text"/>
          <p:cNvSpPr txBox="1"/>
          <p:nvPr/>
        </p:nvSpPr>
        <p:spPr>
          <a:xfrm>
            <a:off x="7269480" y="2148840"/>
            <a:ext cx="4069080" cy="1783080"/>
          </a:xfrm>
          <a:prstGeom prst="rect">
            <a:avLst/>
          </a:prstGeom>
          <a:noFill/>
          <a:ln/>
        </p:spPr>
        <p:txBody>
          <a:bodyPr wrap="square" lIns="0" tIns="0" rIns="0" bIns="0" rtlCol="0" anchor="t"/>
          <a:lstStyle/>
          <a:p>
            <a:pPr indent="0" marL="0">
              <a:lnSpc>
                <a:spcPct val="100000"/>
              </a:lnSpc>
              <a:buNone/>
            </a:pPr>
            <a:r>
              <a:rPr lang="en-US" sz="1300" i="1" dirty="0">
                <a:solidFill>
                  <a:srgbClr val="8D99AE"/>
                </a:solidFill>
                <a:latin typeface="Courier New" pitchFamily="34" charset="0"/>
                <a:ea typeface="Courier New" pitchFamily="34" charset="-122"/>
                <a:cs typeface="Courier New" pitchFamily="34" charset="-120"/>
              </a:rPr>
              <a:t># guarded: one line about GridLine</a:t>
            </a:r>
            <a:endParaRPr lang="en-US" sz="1300" dirty="0"/>
          </a:p>
          <a:p>
            <a:pPr indent="0" marL="0">
              <a:lnSpc>
                <a:spcPct val="100000"/>
              </a:lnSpc>
              <a:buNone/>
            </a:pPr>
            <a:r>
              <a:rPr lang="en-US" sz="1300" i="1" dirty="0">
                <a:solidFill>
                  <a:srgbClr val="8D99AE"/>
                </a:solidFill>
                <a:latin typeface="Courier New" pitchFamily="34" charset="0"/>
                <a:ea typeface="Courier New" pitchFamily="34" charset="-122"/>
                <a:cs typeface="Courier New" pitchFamily="34" charset="-120"/>
              </a:rPr>
              <a:t># + "say not in the docs"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build_baseline_chain(llm)</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i="1" dirty="0">
                <a:solidFill>
                  <a:srgbClr val="8D99AE"/>
                </a:solidFill>
                <a:latin typeface="Courier New" pitchFamily="34" charset="0"/>
                <a:ea typeface="Courier New" pitchFamily="34" charset="-122"/>
                <a:cs typeface="Courier New" pitchFamily="34" charset="-120"/>
              </a:rPr>
              <a:t># open: nothing but the question</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OPEN_BASELINE_TEMPLATE =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"{question}"</a:t>
            </a:r>
            <a:endParaRPr lang="en-US" sz="1300" dirty="0"/>
          </a:p>
        </p:txBody>
      </p:sp>
      <p:sp>
        <p:nvSpPr>
          <p:cNvPr id="10" name="fair test card"/>
          <p:cNvSpPr/>
          <p:nvPr/>
        </p:nvSpPr>
        <p:spPr>
          <a:xfrm>
            <a:off x="6995160" y="4343400"/>
            <a:ext cx="4617720" cy="1280160"/>
          </a:xfrm>
          <a:prstGeom prst="roundRect">
            <a:avLst>
              <a:gd name="adj" fmla="val 5714"/>
            </a:avLst>
          </a:prstGeom>
          <a:solidFill>
            <a:srgbClr val="FFF4D6"/>
          </a:solidFill>
          <a:ln w="12700">
            <a:solidFill>
              <a:srgbClr val="FFF4D6"/>
            </a:solidFill>
            <a:prstDash val="solid"/>
          </a:ln>
        </p:spPr>
      </p:sp>
      <p:sp>
        <p:nvSpPr>
          <p:cNvPr id="11" name="Text 9"/>
          <p:cNvSpPr txBox="1"/>
          <p:nvPr/>
        </p:nvSpPr>
        <p:spPr>
          <a:xfrm>
            <a:off x="7269480" y="4462272"/>
            <a:ext cx="4114800" cy="109728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A fair comparison</a:t>
            </a:r>
            <a:endParaRPr lang="en-US" sz="1800" dirty="0"/>
          </a:p>
          <a:p>
            <a:pPr indent="0" marL="0">
              <a:spcAft>
                <a:spcPts val="600"/>
              </a:spcAft>
              <a:buNone/>
            </a:pPr>
            <a:r>
              <a:rPr lang="en-US" sz="1500" dirty="0">
                <a:solidFill>
                  <a:schemeClr val="tx1"/>
                </a:solidFill>
              </a:rPr>
              <a:t>Same model, same question, same answer key. Only retrieval and the prompt change.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ANALYTICAL PROCESS  ·  STEP 5</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Score against an answer key</a:t>
            </a:r>
            <a:endParaRPr lang="en-US" sz="3600" dirty="0"/>
          </a:p>
        </p:txBody>
      </p:sp>
      <p:sp>
        <p:nvSpPr>
          <p:cNvPr id="4" name="question code card"/>
          <p:cNvSpPr/>
          <p:nvPr/>
        </p:nvSpPr>
        <p:spPr>
          <a:xfrm>
            <a:off x="548640" y="1600200"/>
            <a:ext cx="5577840" cy="2423160"/>
          </a:xfrm>
          <a:prstGeom prst="roundRect">
            <a:avLst>
              <a:gd name="adj" fmla="val 3019"/>
            </a:avLst>
          </a:prstGeom>
          <a:solidFill>
            <a:schemeClr val="tx2"/>
          </a:solidFill>
          <a:ln w="12700">
            <a:solidFill>
              <a:schemeClr val="tx2"/>
            </a:solidFill>
            <a:prstDash val="solid"/>
          </a:ln>
        </p:spPr>
      </p:sp>
      <p:sp>
        <p:nvSpPr>
          <p:cNvPr id="5" name="question code file"/>
          <p:cNvSpPr txBox="1"/>
          <p:nvPr/>
        </p:nvSpPr>
        <p:spPr>
          <a:xfrm>
            <a:off x="822960" y="1764792"/>
            <a:ext cx="502920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eval/questions.json</a:t>
            </a:r>
            <a:endParaRPr lang="en-US" sz="1200" dirty="0"/>
          </a:p>
        </p:txBody>
      </p:sp>
      <p:sp>
        <p:nvSpPr>
          <p:cNvPr id="6" name="question code text"/>
          <p:cNvSpPr txBox="1"/>
          <p:nvPr/>
        </p:nvSpPr>
        <p:spPr>
          <a:xfrm>
            <a:off x="822960" y="2148840"/>
            <a:ext cx="5029200" cy="1691640"/>
          </a:xfrm>
          <a:prstGeom prst="rect">
            <a:avLst/>
          </a:prstGeom>
          <a:noFill/>
          <a:ln/>
        </p:spPr>
        <p:txBody>
          <a:bodyPr wrap="square" lIns="0" tIns="0" rIns="0" bIns="0" rtlCol="0" anchor="t"/>
          <a:lstStyle/>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"id"</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"Q07"</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"type"</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"coop_exception"</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"question"</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"For Bluestem Valley, how are</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service points with status RET mapped?",</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"key_facts"</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"OOS"</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"SRC_STAT=RET"</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"CNV_HOLD_SVC"</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"source"</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"06_coop_bluestem_valley.md"</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endParaRPr lang="en-US" sz="1300" dirty="0"/>
          </a:p>
        </p:txBody>
      </p:sp>
      <p:sp>
        <p:nvSpPr>
          <p:cNvPr id="7" name="score code card"/>
          <p:cNvSpPr/>
          <p:nvPr/>
        </p:nvSpPr>
        <p:spPr>
          <a:xfrm>
            <a:off x="6355080" y="1600200"/>
            <a:ext cx="5257800" cy="2423160"/>
          </a:xfrm>
          <a:prstGeom prst="roundRect">
            <a:avLst>
              <a:gd name="adj" fmla="val 3019"/>
            </a:avLst>
          </a:prstGeom>
          <a:solidFill>
            <a:schemeClr val="tx2"/>
          </a:solidFill>
          <a:ln w="12700">
            <a:solidFill>
              <a:schemeClr val="tx2"/>
            </a:solidFill>
            <a:prstDash val="solid"/>
          </a:ln>
        </p:spPr>
      </p:sp>
      <p:sp>
        <p:nvSpPr>
          <p:cNvPr id="8" name="score code file"/>
          <p:cNvSpPr txBox="1"/>
          <p:nvPr/>
        </p:nvSpPr>
        <p:spPr>
          <a:xfrm>
            <a:off x="6629400" y="1764792"/>
            <a:ext cx="4709160" cy="274320"/>
          </a:xfrm>
          <a:prstGeom prst="rect">
            <a:avLst/>
          </a:prstGeom>
          <a:noFill/>
          <a:ln/>
        </p:spPr>
        <p:txBody>
          <a:bodyPr wrap="square" lIns="0" tIns="0" rIns="0" bIns="0" rtlCol="0" anchor="ctr"/>
          <a:lstStyle/>
          <a:p>
            <a:pPr indent="0" marL="0">
              <a:buNone/>
            </a:pPr>
            <a:r>
              <a:rPr lang="en-US" sz="1200" dirty="0">
                <a:solidFill>
                  <a:srgbClr val="F2A900"/>
                </a:solidFill>
                <a:latin typeface="Courier New" pitchFamily="34" charset="0"/>
                <a:ea typeface="Courier New" pitchFamily="34" charset="-122"/>
                <a:cs typeface="Courier New" pitchFamily="34" charset="-120"/>
              </a:rPr>
              <a:t>rag_core.py</a:t>
            </a:r>
            <a:endParaRPr lang="en-US" sz="1200" dirty="0"/>
          </a:p>
        </p:txBody>
      </p:sp>
      <p:sp>
        <p:nvSpPr>
          <p:cNvPr id="9" name="score code text"/>
          <p:cNvSpPr txBox="1"/>
          <p:nvPr/>
        </p:nvSpPr>
        <p:spPr>
          <a:xfrm>
            <a:off x="6629400" y="2148840"/>
            <a:ext cx="4709160" cy="1691640"/>
          </a:xfrm>
          <a:prstGeom prst="rect">
            <a:avLst/>
          </a:prstGeom>
          <a:noFill/>
          <a:ln/>
        </p:spPr>
        <p:txBody>
          <a:bodyPr wrap="square" lIns="0" tIns="0" rIns="0" bIns="0" rtlCol="0" anchor="t"/>
          <a:lstStyle/>
          <a:p>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def</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fact_found(answer, alternatives):</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i="1" dirty="0">
                <a:solidFill>
                  <a:srgbClr val="8D99AE"/>
                </a:solidFill>
                <a:latin typeface="Courier New" pitchFamily="34" charset="0"/>
                <a:ea typeface="Courier New" pitchFamily="34" charset="-122"/>
                <a:cs typeface="Courier New" pitchFamily="34" charset="-120"/>
              </a:rPr>
              <a:t># whole-token match:</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i="1" dirty="0">
                <a:solidFill>
                  <a:srgbClr val="8D99AE"/>
                </a:solidFill>
                <a:latin typeface="Courier New" pitchFamily="34" charset="0"/>
                <a:ea typeface="Courier New" pitchFamily="34" charset="-122"/>
                <a:cs typeface="Courier New" pitchFamily="34" charset="-120"/>
              </a:rPr>
              <a:t># "22" must not match "2026"</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pattern = (r</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"(?&lt;![\w.\-])"</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 re.escape(alt) + r</a:t>
            </a:r>
            <a:pPr indent="0" marL="0">
              <a:lnSpc>
                <a:spcPct val="100000"/>
              </a:lnSpc>
              <a:buNone/>
            </a:pPr>
            <a:r>
              <a:rPr lang="en-US" sz="1300" dirty="0">
                <a:solidFill>
                  <a:srgbClr val="9FD8CB"/>
                </a:solidFill>
                <a:latin typeface="Courier New" pitchFamily="34" charset="0"/>
                <a:ea typeface="Courier New" pitchFamily="34" charset="-122"/>
                <a:cs typeface="Courier New" pitchFamily="34" charset="-120"/>
              </a:rPr>
              <a:t>"(?![\w])"</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F2A900"/>
                </a:solidFill>
                <a:latin typeface="Courier New" pitchFamily="34" charset="0"/>
                <a:ea typeface="Courier New" pitchFamily="34" charset="-122"/>
                <a:cs typeface="Courier New" pitchFamily="34" charset="-120"/>
              </a:rPr>
              <a:t>return</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bool(re.search(pattern, ans))</a:t>
            </a:r>
            <a:endParaRPr lang="en-US" sz="1300" dirty="0"/>
          </a:p>
        </p:txBody>
      </p:sp>
      <p:sp>
        <p:nvSpPr>
          <p:cNvPr id="10" name="step 1"/>
          <p:cNvSpPr/>
          <p:nvPr/>
        </p:nvSpPr>
        <p:spPr>
          <a:xfrm>
            <a:off x="548640" y="4297680"/>
            <a:ext cx="3474720" cy="1737360"/>
          </a:xfrm>
          <a:prstGeom prst="roundRect">
            <a:avLst>
              <a:gd name="adj" fmla="val 4211"/>
            </a:avLst>
          </a:prstGeom>
          <a:solidFill>
            <a:schemeClr val="bg2"/>
          </a:solidFill>
          <a:ln w="12700">
            <a:solidFill>
              <a:schemeClr val="bg2"/>
            </a:solidFill>
            <a:prstDash val="solid"/>
          </a:ln>
        </p:spPr>
      </p:sp>
      <p:sp>
        <p:nvSpPr>
          <p:cNvPr id="11" name="Auto-score icon circle"/>
          <p:cNvSpPr/>
          <p:nvPr/>
        </p:nvSpPr>
        <p:spPr>
          <a:xfrm>
            <a:off x="822960" y="4526280"/>
            <a:ext cx="640080" cy="640080"/>
          </a:xfrm>
          <a:prstGeom prst="ellipse">
            <a:avLst/>
          </a:prstGeom>
          <a:solidFill>
            <a:schemeClr val="accent1"/>
          </a:solidFill>
          <a:ln w="12700">
            <a:solidFill>
              <a:schemeClr val="accent1"/>
            </a:solidFill>
            <a:prstDash val="solid"/>
          </a:ln>
        </p:spPr>
      </p:sp>
      <p:pic>
        <p:nvPicPr>
          <p:cNvPr id="12" name="Auto-score icon" descr="Auto-score icon">    </p:cNvPr>
          <p:cNvPicPr>
            <a:picLocks noChangeAspect="1"/>
          </p:cNvPicPr>
          <p:nvPr/>
        </p:nvPicPr>
        <p:blipFill>
          <a:blip r:embed="rId1"/>
          <a:stretch>
            <a:fillRect/>
          </a:stretch>
        </p:blipFill>
        <p:spPr>
          <a:xfrm>
            <a:off x="982980" y="4686300"/>
            <a:ext cx="320040" cy="320040"/>
          </a:xfrm>
          <a:prstGeom prst="rect">
            <a:avLst/>
          </a:prstGeom>
        </p:spPr>
      </p:pic>
      <p:sp>
        <p:nvSpPr>
          <p:cNvPr id="13" name="Text 10"/>
          <p:cNvSpPr txBox="1"/>
          <p:nvPr/>
        </p:nvSpPr>
        <p:spPr>
          <a:xfrm>
            <a:off x="1645920" y="4526280"/>
            <a:ext cx="2194560" cy="1371600"/>
          </a:xfrm>
          <a:prstGeom prst="rect">
            <a:avLst/>
          </a:prstGeom>
          <a:noFill/>
          <a:ln/>
        </p:spPr>
        <p:txBody>
          <a:bodyPr wrap="square" lIns="0" tIns="0" rIns="0" bIns="0" rtlCol="0" anchor="t"/>
          <a:lstStyle/>
          <a:p>
            <a:pPr indent="0" marL="0">
              <a:buNone/>
            </a:pPr>
            <a:r>
              <a:rPr lang="en-US" sz="1800" b="1" dirty="0">
                <a:solidFill>
                  <a:schemeClr val="tx1"/>
                </a:solidFill>
              </a:rPr>
              <a:t>Auto-score</a:t>
            </a:r>
            <a:endParaRPr lang="en-US" sz="1800" dirty="0"/>
          </a:p>
          <a:p>
            <a:pPr indent="0" marL="0">
              <a:buNone/>
            </a:pPr>
            <a:r>
              <a:rPr lang="en-US" sz="1500" dirty="0">
                <a:solidFill>
                  <a:schemeClr val="accent6"/>
                </a:solidFill>
              </a:rPr>
              <a:t>Key facts, abstention and retrieval hit for every answer</a:t>
            </a:r>
            <a:endParaRPr lang="en-US" sz="1800" dirty="0"/>
          </a:p>
        </p:txBody>
      </p:sp>
      <p:sp>
        <p:nvSpPr>
          <p:cNvPr id="14" name="step 2"/>
          <p:cNvSpPr/>
          <p:nvPr/>
        </p:nvSpPr>
        <p:spPr>
          <a:xfrm>
            <a:off x="4297680" y="4297680"/>
            <a:ext cx="3474720" cy="1737360"/>
          </a:xfrm>
          <a:prstGeom prst="roundRect">
            <a:avLst>
              <a:gd name="adj" fmla="val 4211"/>
            </a:avLst>
          </a:prstGeom>
          <a:solidFill>
            <a:schemeClr val="bg2"/>
          </a:solidFill>
          <a:ln w="12700">
            <a:solidFill>
              <a:schemeClr val="bg2"/>
            </a:solidFill>
            <a:prstDash val="solid"/>
          </a:ln>
        </p:spPr>
      </p:sp>
      <p:sp>
        <p:nvSpPr>
          <p:cNvPr id="15" name="Read by hand icon circle"/>
          <p:cNvSpPr/>
          <p:nvPr/>
        </p:nvSpPr>
        <p:spPr>
          <a:xfrm>
            <a:off x="4572000" y="4526280"/>
            <a:ext cx="640080" cy="640080"/>
          </a:xfrm>
          <a:prstGeom prst="ellipse">
            <a:avLst/>
          </a:prstGeom>
          <a:solidFill>
            <a:schemeClr val="accent1"/>
          </a:solidFill>
          <a:ln w="12700">
            <a:solidFill>
              <a:schemeClr val="accent1"/>
            </a:solidFill>
            <a:prstDash val="solid"/>
          </a:ln>
        </p:spPr>
      </p:sp>
      <p:pic>
        <p:nvPicPr>
          <p:cNvPr id="16" name="Read by hand icon" descr="Read by hand icon">    </p:cNvPr>
          <p:cNvPicPr>
            <a:picLocks noChangeAspect="1"/>
          </p:cNvPicPr>
          <p:nvPr/>
        </p:nvPicPr>
        <p:blipFill>
          <a:blip r:embed="rId2"/>
          <a:stretch>
            <a:fillRect/>
          </a:stretch>
        </p:blipFill>
        <p:spPr>
          <a:xfrm>
            <a:off x="4732020" y="4686300"/>
            <a:ext cx="320040" cy="320040"/>
          </a:xfrm>
          <a:prstGeom prst="rect">
            <a:avLst/>
          </a:prstGeom>
        </p:spPr>
      </p:pic>
      <p:sp>
        <p:nvSpPr>
          <p:cNvPr id="17" name="Text 13"/>
          <p:cNvSpPr txBox="1"/>
          <p:nvPr/>
        </p:nvSpPr>
        <p:spPr>
          <a:xfrm>
            <a:off x="5394960" y="4526280"/>
            <a:ext cx="2194560" cy="1371600"/>
          </a:xfrm>
          <a:prstGeom prst="rect">
            <a:avLst/>
          </a:prstGeom>
          <a:noFill/>
          <a:ln/>
        </p:spPr>
        <p:txBody>
          <a:bodyPr wrap="square" lIns="0" tIns="0" rIns="0" bIns="0" rtlCol="0" anchor="t"/>
          <a:lstStyle/>
          <a:p>
            <a:pPr indent="0" marL="0">
              <a:buNone/>
            </a:pPr>
            <a:r>
              <a:rPr lang="en-US" sz="1800" b="1" dirty="0">
                <a:solidFill>
                  <a:schemeClr val="tx1"/>
                </a:solidFill>
              </a:rPr>
              <a:t>Read by hand</a:t>
            </a:r>
            <a:endParaRPr lang="en-US" sz="1800" dirty="0"/>
          </a:p>
          <a:p>
            <a:pPr indent="0" marL="0">
              <a:buNone/>
            </a:pPr>
            <a:r>
              <a:rPr lang="en-US" sz="1500" dirty="0">
                <a:solidFill>
                  <a:schemeClr val="accent6"/>
                </a:solidFill>
              </a:rPr>
              <a:t>Every answer reviewed for values not in the docs</a:t>
            </a:r>
            <a:endParaRPr lang="en-US" sz="1800" dirty="0"/>
          </a:p>
        </p:txBody>
      </p:sp>
      <p:sp>
        <p:nvSpPr>
          <p:cNvPr id="18" name="step 3"/>
          <p:cNvSpPr/>
          <p:nvPr/>
        </p:nvSpPr>
        <p:spPr>
          <a:xfrm>
            <a:off x="8046720" y="4297680"/>
            <a:ext cx="3474720" cy="1737360"/>
          </a:xfrm>
          <a:prstGeom prst="roundRect">
            <a:avLst>
              <a:gd name="adj" fmla="val 4211"/>
            </a:avLst>
          </a:prstGeom>
          <a:solidFill>
            <a:schemeClr val="bg2"/>
          </a:solidFill>
          <a:ln w="12700">
            <a:solidFill>
              <a:schemeClr val="bg2"/>
            </a:solidFill>
            <a:prstDash val="solid"/>
          </a:ln>
        </p:spPr>
      </p:sp>
      <p:sp>
        <p:nvSpPr>
          <p:cNvPr id="19" name="Repeat 3 more times icon circle"/>
          <p:cNvSpPr/>
          <p:nvPr/>
        </p:nvSpPr>
        <p:spPr>
          <a:xfrm>
            <a:off x="8321040" y="4526280"/>
            <a:ext cx="640080" cy="640080"/>
          </a:xfrm>
          <a:prstGeom prst="ellipse">
            <a:avLst/>
          </a:prstGeom>
          <a:solidFill>
            <a:schemeClr val="accent1"/>
          </a:solidFill>
          <a:ln w="12700">
            <a:solidFill>
              <a:schemeClr val="accent1"/>
            </a:solidFill>
            <a:prstDash val="solid"/>
          </a:ln>
        </p:spPr>
      </p:sp>
      <p:pic>
        <p:nvPicPr>
          <p:cNvPr id="20" name="Repeat 3 more times icon" descr="Repeat 3 more times icon">    </p:cNvPr>
          <p:cNvPicPr>
            <a:picLocks noChangeAspect="1"/>
          </p:cNvPicPr>
          <p:nvPr/>
        </p:nvPicPr>
        <p:blipFill>
          <a:blip r:embed="rId3"/>
          <a:stretch>
            <a:fillRect/>
          </a:stretch>
        </p:blipFill>
        <p:spPr>
          <a:xfrm>
            <a:off x="8481060" y="4686300"/>
            <a:ext cx="320040" cy="320040"/>
          </a:xfrm>
          <a:prstGeom prst="rect">
            <a:avLst/>
          </a:prstGeom>
        </p:spPr>
      </p:pic>
      <p:sp>
        <p:nvSpPr>
          <p:cNvPr id="21" name="Text 16"/>
          <p:cNvSpPr txBox="1"/>
          <p:nvPr/>
        </p:nvSpPr>
        <p:spPr>
          <a:xfrm>
            <a:off x="9144000" y="4526280"/>
            <a:ext cx="2194560" cy="1371600"/>
          </a:xfrm>
          <a:prstGeom prst="rect">
            <a:avLst/>
          </a:prstGeom>
          <a:noFill/>
          <a:ln/>
        </p:spPr>
        <p:txBody>
          <a:bodyPr wrap="square" lIns="0" tIns="0" rIns="0" bIns="0" rtlCol="0" anchor="t"/>
          <a:lstStyle/>
          <a:p>
            <a:pPr indent="0" marL="0">
              <a:buNone/>
            </a:pPr>
            <a:r>
              <a:rPr lang="en-US" sz="1800" b="1" dirty="0">
                <a:solidFill>
                  <a:schemeClr val="tx1"/>
                </a:solidFill>
              </a:rPr>
              <a:t>Repeat 3 more times</a:t>
            </a:r>
            <a:endParaRPr lang="en-US" sz="1800" dirty="0"/>
          </a:p>
          <a:p>
            <a:pPr indent="0" marL="0">
              <a:buNone/>
            </a:pPr>
            <a:r>
              <a:rPr lang="en-US" sz="1500" dirty="0">
                <a:solidFill>
                  <a:schemeClr val="accent6"/>
                </a:solidFill>
              </a:rPr>
              <a:t>The API no longer accepts temperature, so check stability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RESULTS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RAG 100% vs. the LLM alone 12.5%</a:t>
            </a:r>
            <a:endParaRPr lang="en-US" sz="3600" dirty="0"/>
          </a:p>
        </p:txBody>
      </p:sp>
      <p:graphicFrame>
        <p:nvGraphicFramePr>
          <p:cNvPr id="4" name="accuracy chart" descr=""/>
          <p:cNvGraphicFramePr/>
          <p:nvPr/>
        </p:nvGraphicFramePr>
        <p:xfrm>
          <a:off x="548640" y="15544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49040" cy="777240"/>
          </a:xfrm>
          <a:prstGeom prst="rect">
            <a:avLst/>
          </a:prstGeom>
          <a:noFill/>
          <a:ln/>
        </p:spPr>
        <p:txBody>
          <a:bodyPr wrap="square" lIns="0" tIns="0" rIns="0" bIns="0" rtlCol="0" anchor="ctr"/>
          <a:lstStyle/>
          <a:p>
            <a:pPr indent="0" marL="0">
              <a:buNone/>
            </a:pPr>
            <a:r>
              <a:rPr lang="en-US" sz="4800" b="1" dirty="0">
                <a:solidFill>
                  <a:schemeClr val="accent2"/>
                </a:solidFill>
              </a:rPr>
              <a:t>8/8</a:t>
            </a:r>
            <a:endParaRPr lang="en-US" sz="4800" dirty="0"/>
          </a:p>
        </p:txBody>
      </p:sp>
      <p:sp>
        <p:nvSpPr>
          <p:cNvPr id="6" name="Text 3"/>
          <p:cNvSpPr txBox="1"/>
          <p:nvPr/>
        </p:nvSpPr>
        <p:spPr>
          <a:xfrm>
            <a:off x="7863840" y="2468880"/>
            <a:ext cx="3749040" cy="457200"/>
          </a:xfrm>
          <a:prstGeom prst="rect">
            <a:avLst/>
          </a:prstGeom>
          <a:noFill/>
          <a:ln/>
        </p:spPr>
        <p:txBody>
          <a:bodyPr wrap="square" lIns="0" tIns="0" rIns="0" bIns="0" rtlCol="0" anchor="t"/>
          <a:lstStyle/>
          <a:p>
            <a:pPr indent="0" marL="0">
              <a:buNone/>
            </a:pPr>
            <a:r>
              <a:rPr lang="en-US" sz="1500" dirty="0">
                <a:solidFill>
                  <a:schemeClr val="tx1"/>
                </a:solidFill>
              </a:rPr>
              <a:t>covered questions: right file retrieved</a:t>
            </a:r>
            <a:endParaRPr lang="en-US" sz="1500" dirty="0"/>
          </a:p>
        </p:txBody>
      </p:sp>
      <p:sp>
        <p:nvSpPr>
          <p:cNvPr id="7" name="Text 4"/>
          <p:cNvSpPr txBox="1"/>
          <p:nvPr/>
        </p:nvSpPr>
        <p:spPr>
          <a:xfrm>
            <a:off x="7863840" y="3154680"/>
            <a:ext cx="3749040" cy="777240"/>
          </a:xfrm>
          <a:prstGeom prst="rect">
            <a:avLst/>
          </a:prstGeom>
          <a:noFill/>
          <a:ln/>
        </p:spPr>
        <p:txBody>
          <a:bodyPr wrap="square" lIns="0" tIns="0" rIns="0" bIns="0" rtlCol="0" anchor="ctr"/>
          <a:lstStyle/>
          <a:p>
            <a:pPr indent="0" marL="0">
              <a:buNone/>
            </a:pPr>
            <a:r>
              <a:rPr lang="en-US" sz="4800" b="1" dirty="0">
                <a:solidFill>
                  <a:schemeClr val="accent2"/>
                </a:solidFill>
              </a:rPr>
              <a:t>2/2</a:t>
            </a:r>
            <a:endParaRPr lang="en-US" sz="4800" dirty="0"/>
          </a:p>
        </p:txBody>
      </p:sp>
      <p:sp>
        <p:nvSpPr>
          <p:cNvPr id="8" name="Text 5"/>
          <p:cNvSpPr txBox="1"/>
          <p:nvPr/>
        </p:nvSpPr>
        <p:spPr>
          <a:xfrm>
            <a:off x="7863840" y="3931920"/>
            <a:ext cx="3749040" cy="457200"/>
          </a:xfrm>
          <a:prstGeom prst="rect">
            <a:avLst/>
          </a:prstGeom>
          <a:noFill/>
          <a:ln/>
        </p:spPr>
        <p:txBody>
          <a:bodyPr wrap="square" lIns="0" tIns="0" rIns="0" bIns="0" rtlCol="0" anchor="t"/>
          <a:lstStyle/>
          <a:p>
            <a:pPr indent="0" marL="0">
              <a:buNone/>
            </a:pPr>
            <a:r>
              <a:rPr lang="en-US" sz="1500" dirty="0">
                <a:solidFill>
                  <a:schemeClr val="tx1"/>
                </a:solidFill>
              </a:rPr>
              <a:t>uncovered questions: said “not in the docs”</a:t>
            </a:r>
            <a:endParaRPr lang="en-US" sz="1500" dirty="0"/>
          </a:p>
        </p:txBody>
      </p:sp>
      <p:sp>
        <p:nvSpPr>
          <p:cNvPr id="9" name="Text 6"/>
          <p:cNvSpPr txBox="1"/>
          <p:nvPr/>
        </p:nvSpPr>
        <p:spPr>
          <a:xfrm>
            <a:off x="7863840" y="4617720"/>
            <a:ext cx="3749040" cy="777240"/>
          </a:xfrm>
          <a:prstGeom prst="rect">
            <a:avLst/>
          </a:prstGeom>
          <a:noFill/>
          <a:ln/>
        </p:spPr>
        <p:txBody>
          <a:bodyPr wrap="square" lIns="0" tIns="0" rIns="0" bIns="0" rtlCol="0" anchor="ctr"/>
          <a:lstStyle/>
          <a:p>
            <a:pPr indent="0" marL="0">
              <a:buNone/>
            </a:pPr>
            <a:r>
              <a:rPr lang="en-US" sz="4800" b="1" dirty="0">
                <a:solidFill>
                  <a:schemeClr val="accent2"/>
                </a:solidFill>
              </a:rPr>
              <a:t>4/4</a:t>
            </a:r>
            <a:endParaRPr lang="en-US" sz="4800" dirty="0"/>
          </a:p>
        </p:txBody>
      </p:sp>
      <p:sp>
        <p:nvSpPr>
          <p:cNvPr id="10" name="Text 7"/>
          <p:cNvSpPr txBox="1"/>
          <p:nvPr/>
        </p:nvSpPr>
        <p:spPr>
          <a:xfrm>
            <a:off x="7863840" y="5394960"/>
            <a:ext cx="3749040" cy="457200"/>
          </a:xfrm>
          <a:prstGeom prst="rect">
            <a:avLst/>
          </a:prstGeom>
          <a:noFill/>
          <a:ln/>
        </p:spPr>
        <p:txBody>
          <a:bodyPr wrap="square" lIns="0" tIns="0" rIns="0" bIns="0" rtlCol="0" anchor="t"/>
          <a:lstStyle/>
          <a:p>
            <a:pPr indent="0" marL="0">
              <a:buNone/>
            </a:pPr>
            <a:r>
              <a:rPr lang="en-US" sz="1500" dirty="0">
                <a:solidFill>
                  <a:schemeClr val="tx1"/>
                </a:solidFill>
              </a:rPr>
              <a:t>runs with identical RAG scores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RESULTS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Without docs, the model hedged and guessed</a:t>
            </a:r>
            <a:endParaRPr lang="en-US" sz="3600" dirty="0"/>
          </a:p>
        </p:txBody>
      </p:sp>
      <p:sp>
        <p:nvSpPr>
          <p:cNvPr id="4" name="quote 1"/>
          <p:cNvSpPr/>
          <p:nvPr/>
        </p:nvSpPr>
        <p:spPr>
          <a:xfrm>
            <a:off x="548640" y="1645920"/>
            <a:ext cx="3474720" cy="3017520"/>
          </a:xfrm>
          <a:prstGeom prst="roundRect">
            <a:avLst>
              <a:gd name="adj" fmla="val 2424"/>
            </a:avLst>
          </a:prstGeom>
          <a:solidFill>
            <a:schemeClr val="bg2"/>
          </a:solidFill>
          <a:ln w="12700">
            <a:solidFill>
              <a:schemeClr val="bg2"/>
            </a:solidFill>
            <a:prstDash val="solid"/>
          </a:ln>
        </p:spPr>
      </p:sp>
      <p:sp>
        <p:nvSpPr>
          <p:cNvPr id="5" name="Text 3"/>
          <p:cNvSpPr txBox="1"/>
          <p:nvPr/>
        </p:nvSpPr>
        <p:spPr>
          <a:xfrm>
            <a:off x="822960" y="1828800"/>
            <a:ext cx="2926080" cy="320040"/>
          </a:xfrm>
          <a:prstGeom prst="rect">
            <a:avLst/>
          </a:prstGeom>
          <a:noFill/>
          <a:ln/>
        </p:spPr>
        <p:txBody>
          <a:bodyPr wrap="square" lIns="0" tIns="0" rIns="0" bIns="0" rtlCol="0" anchor="ctr"/>
          <a:lstStyle/>
          <a:p>
            <a:pPr indent="0" marL="0">
              <a:buNone/>
            </a:pPr>
            <a:r>
              <a:rPr lang="en-US" sz="1300" b="1" dirty="0">
                <a:solidFill>
                  <a:schemeClr val="accent6"/>
                </a:solidFill>
              </a:rPr>
              <a:t>Open baseline  ·  Q07</a:t>
            </a:r>
            <a:endParaRPr lang="en-US" sz="1300" dirty="0"/>
          </a:p>
        </p:txBody>
      </p:sp>
      <p:sp>
        <p:nvSpPr>
          <p:cNvPr id="6" name="Text 4"/>
          <p:cNvSpPr txBox="1"/>
          <p:nvPr/>
        </p:nvSpPr>
        <p:spPr>
          <a:xfrm>
            <a:off x="822960" y="2286000"/>
            <a:ext cx="2926080" cy="1508760"/>
          </a:xfrm>
          <a:prstGeom prst="rect">
            <a:avLst/>
          </a:prstGeom>
          <a:noFill/>
          <a:ln/>
        </p:spPr>
        <p:txBody>
          <a:bodyPr wrap="square" lIns="0" tIns="0" rIns="0" bIns="0" rtlCol="0" anchor="t"/>
          <a:lstStyle/>
          <a:p>
            <a:pPr indent="0" marL="0">
              <a:buNone/>
            </a:pPr>
            <a:r>
              <a:rPr lang="en-US" sz="2200" i="1" dirty="0">
                <a:solidFill>
                  <a:schemeClr val="tx1"/>
                </a:solidFill>
              </a:rPr>
              <a:t>“‘RET’ most likely stands for ‘Retired.’”</a:t>
            </a:r>
            <a:endParaRPr lang="en-US" sz="2200" dirty="0"/>
          </a:p>
        </p:txBody>
      </p:sp>
      <p:sp>
        <p:nvSpPr>
          <p:cNvPr id="7" name="wrong icon 1 circle"/>
          <p:cNvSpPr/>
          <p:nvPr/>
        </p:nvSpPr>
        <p:spPr>
          <a:xfrm>
            <a:off x="822960" y="3931920"/>
            <a:ext cx="457200" cy="457200"/>
          </a:xfrm>
          <a:prstGeom prst="ellipse">
            <a:avLst/>
          </a:prstGeom>
          <a:solidFill>
            <a:schemeClr val="accent4"/>
          </a:solidFill>
          <a:ln w="12700">
            <a:solidFill>
              <a:schemeClr val="accent4"/>
            </a:solidFill>
            <a:prstDash val="solid"/>
          </a:ln>
        </p:spPr>
      </p:sp>
      <p:pic>
        <p:nvPicPr>
          <p:cNvPr id="8" name="wrong icon 1" descr="wrong icon 1">    </p:cNvPr>
          <p:cNvPicPr>
            <a:picLocks noChangeAspect="1"/>
          </p:cNvPicPr>
          <p:nvPr/>
        </p:nvPicPr>
        <p:blipFill>
          <a:blip r:embed="rId1"/>
          <a:stretch>
            <a:fillRect/>
          </a:stretch>
        </p:blipFill>
        <p:spPr>
          <a:xfrm>
            <a:off x="937260" y="4046220"/>
            <a:ext cx="228600" cy="228600"/>
          </a:xfrm>
          <a:prstGeom prst="rect">
            <a:avLst/>
          </a:prstGeom>
        </p:spPr>
      </p:pic>
      <p:sp>
        <p:nvSpPr>
          <p:cNvPr id="9" name="Text 6"/>
          <p:cNvSpPr txBox="1"/>
          <p:nvPr/>
        </p:nvSpPr>
        <p:spPr>
          <a:xfrm>
            <a:off x="1417320" y="3931920"/>
            <a:ext cx="2423160" cy="457200"/>
          </a:xfrm>
          <a:prstGeom prst="rect">
            <a:avLst/>
          </a:prstGeom>
          <a:noFill/>
          <a:ln/>
        </p:spPr>
        <p:txBody>
          <a:bodyPr wrap="square" lIns="0" tIns="0" rIns="0" bIns="0" rtlCol="0" anchor="ctr"/>
          <a:lstStyle/>
          <a:p>
            <a:pPr indent="0" marL="0">
              <a:buNone/>
            </a:pPr>
            <a:r>
              <a:rPr lang="en-US" sz="1500" b="1" dirty="0">
                <a:solidFill>
                  <a:schemeClr val="accent4"/>
                </a:solidFill>
              </a:rPr>
              <a:t>Docs: out of service (OOS)</a:t>
            </a:r>
            <a:endParaRPr lang="en-US" sz="1500" dirty="0"/>
          </a:p>
        </p:txBody>
      </p:sp>
      <p:sp>
        <p:nvSpPr>
          <p:cNvPr id="10" name="quote 2"/>
          <p:cNvSpPr/>
          <p:nvPr/>
        </p:nvSpPr>
        <p:spPr>
          <a:xfrm>
            <a:off x="4297680" y="1645920"/>
            <a:ext cx="3474720" cy="3017520"/>
          </a:xfrm>
          <a:prstGeom prst="roundRect">
            <a:avLst>
              <a:gd name="adj" fmla="val 2424"/>
            </a:avLst>
          </a:prstGeom>
          <a:solidFill>
            <a:schemeClr val="bg2"/>
          </a:solidFill>
          <a:ln w="12700">
            <a:solidFill>
              <a:schemeClr val="bg2"/>
            </a:solidFill>
            <a:prstDash val="solid"/>
          </a:ln>
        </p:spPr>
      </p:sp>
      <p:sp>
        <p:nvSpPr>
          <p:cNvPr id="11" name="Text 8"/>
          <p:cNvSpPr txBox="1"/>
          <p:nvPr/>
        </p:nvSpPr>
        <p:spPr>
          <a:xfrm>
            <a:off x="4572000" y="1828800"/>
            <a:ext cx="2926080" cy="320040"/>
          </a:xfrm>
          <a:prstGeom prst="rect">
            <a:avLst/>
          </a:prstGeom>
          <a:noFill/>
          <a:ln/>
        </p:spPr>
        <p:txBody>
          <a:bodyPr wrap="square" lIns="0" tIns="0" rIns="0" bIns="0" rtlCol="0" anchor="ctr"/>
          <a:lstStyle/>
          <a:p>
            <a:pPr indent="0" marL="0">
              <a:buNone/>
            </a:pPr>
            <a:r>
              <a:rPr lang="en-US" sz="1300" b="1" dirty="0">
                <a:solidFill>
                  <a:schemeClr val="accent6"/>
                </a:solidFill>
              </a:rPr>
              <a:t>Open baseline  ·  Q03</a:t>
            </a:r>
            <a:endParaRPr lang="en-US" sz="1300" dirty="0"/>
          </a:p>
        </p:txBody>
      </p:sp>
      <p:sp>
        <p:nvSpPr>
          <p:cNvPr id="12" name="Text 9"/>
          <p:cNvSpPr txBox="1"/>
          <p:nvPr/>
        </p:nvSpPr>
        <p:spPr>
          <a:xfrm>
            <a:off x="4572000" y="2286000"/>
            <a:ext cx="2926080" cy="1508760"/>
          </a:xfrm>
          <a:prstGeom prst="rect">
            <a:avLst/>
          </a:prstGeom>
          <a:noFill/>
          <a:ln/>
        </p:spPr>
        <p:txBody>
          <a:bodyPr wrap="square" lIns="0" tIns="0" rIns="0" bIns="0" rtlCol="0" anchor="t"/>
          <a:lstStyle/>
          <a:p>
            <a:pPr indent="0" marL="0">
              <a:buNone/>
            </a:pPr>
            <a:r>
              <a:rPr lang="en-US" sz="2200" i="1" dirty="0">
                <a:solidFill>
                  <a:schemeClr val="tx1"/>
                </a:solidFill>
              </a:rPr>
              <a:t>“A tolerance of roughly 0.5 to 1 m is a reasonable starting point.”</a:t>
            </a:r>
            <a:endParaRPr lang="en-US" sz="2200" dirty="0"/>
          </a:p>
        </p:txBody>
      </p:sp>
      <p:sp>
        <p:nvSpPr>
          <p:cNvPr id="13" name="wrong icon 2 circle"/>
          <p:cNvSpPr/>
          <p:nvPr/>
        </p:nvSpPr>
        <p:spPr>
          <a:xfrm>
            <a:off x="4572000" y="3931920"/>
            <a:ext cx="457200" cy="457200"/>
          </a:xfrm>
          <a:prstGeom prst="ellipse">
            <a:avLst/>
          </a:prstGeom>
          <a:solidFill>
            <a:schemeClr val="accent4"/>
          </a:solidFill>
          <a:ln w="12700">
            <a:solidFill>
              <a:schemeClr val="accent4"/>
            </a:solidFill>
            <a:prstDash val="solid"/>
          </a:ln>
        </p:spPr>
      </p:sp>
      <p:pic>
        <p:nvPicPr>
          <p:cNvPr id="14" name="wrong icon 2" descr="wrong icon 2">    </p:cNvPr>
          <p:cNvPicPr>
            <a:picLocks noChangeAspect="1"/>
          </p:cNvPicPr>
          <p:nvPr/>
        </p:nvPicPr>
        <p:blipFill>
          <a:blip r:embed="rId2"/>
          <a:stretch>
            <a:fillRect/>
          </a:stretch>
        </p:blipFill>
        <p:spPr>
          <a:xfrm>
            <a:off x="4686300" y="4046220"/>
            <a:ext cx="228600" cy="228600"/>
          </a:xfrm>
          <a:prstGeom prst="rect">
            <a:avLst/>
          </a:prstGeom>
        </p:spPr>
      </p:pic>
      <p:sp>
        <p:nvSpPr>
          <p:cNvPr id="15" name="Text 11"/>
          <p:cNvSpPr txBox="1"/>
          <p:nvPr/>
        </p:nvSpPr>
        <p:spPr>
          <a:xfrm>
            <a:off x="5166360" y="3931920"/>
            <a:ext cx="2423160" cy="457200"/>
          </a:xfrm>
          <a:prstGeom prst="rect">
            <a:avLst/>
          </a:prstGeom>
          <a:noFill/>
          <a:ln/>
        </p:spPr>
        <p:txBody>
          <a:bodyPr wrap="square" lIns="0" tIns="0" rIns="0" bIns="0" rtlCol="0" anchor="ctr"/>
          <a:lstStyle/>
          <a:p>
            <a:pPr indent="0" marL="0">
              <a:buNone/>
            </a:pPr>
            <a:r>
              <a:rPr lang="en-US" sz="1500" b="1" dirty="0">
                <a:solidFill>
                  <a:schemeClr val="accent4"/>
                </a:solidFill>
              </a:rPr>
              <a:t>Docs: 0.25 ft for Prairie Wind</a:t>
            </a:r>
            <a:endParaRPr lang="en-US" sz="1500" dirty="0"/>
          </a:p>
        </p:txBody>
      </p:sp>
      <p:sp>
        <p:nvSpPr>
          <p:cNvPr id="16" name="quote 3"/>
          <p:cNvSpPr/>
          <p:nvPr/>
        </p:nvSpPr>
        <p:spPr>
          <a:xfrm>
            <a:off x="8046720" y="1645920"/>
            <a:ext cx="3474720" cy="3017520"/>
          </a:xfrm>
          <a:prstGeom prst="roundRect">
            <a:avLst>
              <a:gd name="adj" fmla="val 2424"/>
            </a:avLst>
          </a:prstGeom>
          <a:solidFill>
            <a:schemeClr val="bg2"/>
          </a:solidFill>
          <a:ln w="12700">
            <a:solidFill>
              <a:schemeClr val="bg2"/>
            </a:solidFill>
            <a:prstDash val="solid"/>
          </a:ln>
        </p:spPr>
      </p:sp>
      <p:sp>
        <p:nvSpPr>
          <p:cNvPr id="17" name="Text 13"/>
          <p:cNvSpPr txBox="1"/>
          <p:nvPr/>
        </p:nvSpPr>
        <p:spPr>
          <a:xfrm>
            <a:off x="8321040" y="1828800"/>
            <a:ext cx="2926080" cy="320040"/>
          </a:xfrm>
          <a:prstGeom prst="rect">
            <a:avLst/>
          </a:prstGeom>
          <a:noFill/>
          <a:ln/>
        </p:spPr>
        <p:txBody>
          <a:bodyPr wrap="square" lIns="0" tIns="0" rIns="0" bIns="0" rtlCol="0" anchor="ctr"/>
          <a:lstStyle/>
          <a:p>
            <a:pPr indent="0" marL="0">
              <a:buNone/>
            </a:pPr>
            <a:r>
              <a:rPr lang="en-US" sz="1300" b="1" dirty="0">
                <a:solidFill>
                  <a:schemeClr val="accent6"/>
                </a:solidFill>
              </a:rPr>
              <a:t>Open baseline  ·  Q08</a:t>
            </a:r>
            <a:endParaRPr lang="en-US" sz="1300" dirty="0"/>
          </a:p>
        </p:txBody>
      </p:sp>
      <p:sp>
        <p:nvSpPr>
          <p:cNvPr id="18" name="Text 14"/>
          <p:cNvSpPr txBox="1"/>
          <p:nvPr/>
        </p:nvSpPr>
        <p:spPr>
          <a:xfrm>
            <a:off x="8321040" y="2286000"/>
            <a:ext cx="2926080" cy="1508760"/>
          </a:xfrm>
          <a:prstGeom prst="rect">
            <a:avLst/>
          </a:prstGeom>
          <a:noFill/>
          <a:ln/>
        </p:spPr>
        <p:txBody>
          <a:bodyPr wrap="square" lIns="0" tIns="0" rIns="0" bIns="0" rtlCol="0" anchor="t"/>
          <a:lstStyle/>
          <a:p>
            <a:pPr indent="0" marL="0">
              <a:buNone/>
            </a:pPr>
            <a:r>
              <a:rPr lang="en-US" sz="2200" i="1" dirty="0">
                <a:solidFill>
                  <a:schemeClr val="tx1"/>
                </a:solidFill>
              </a:rPr>
              <a:t>“Typical distribution spans run roughly 100 to 300 feet.”</a:t>
            </a:r>
            <a:endParaRPr lang="en-US" sz="2200" dirty="0"/>
          </a:p>
        </p:txBody>
      </p:sp>
      <p:sp>
        <p:nvSpPr>
          <p:cNvPr id="19" name="wrong icon 3 circle"/>
          <p:cNvSpPr/>
          <p:nvPr/>
        </p:nvSpPr>
        <p:spPr>
          <a:xfrm>
            <a:off x="8321040" y="3931920"/>
            <a:ext cx="457200" cy="457200"/>
          </a:xfrm>
          <a:prstGeom prst="ellipse">
            <a:avLst/>
          </a:prstGeom>
          <a:solidFill>
            <a:schemeClr val="accent4"/>
          </a:solidFill>
          <a:ln w="12700">
            <a:solidFill>
              <a:schemeClr val="accent4"/>
            </a:solidFill>
            <a:prstDash val="solid"/>
          </a:ln>
        </p:spPr>
      </p:sp>
      <p:pic>
        <p:nvPicPr>
          <p:cNvPr id="20" name="wrong icon 3" descr="wrong icon 3">    </p:cNvPr>
          <p:cNvPicPr>
            <a:picLocks noChangeAspect="1"/>
          </p:cNvPicPr>
          <p:nvPr/>
        </p:nvPicPr>
        <p:blipFill>
          <a:blip r:embed="rId3"/>
          <a:stretch>
            <a:fillRect/>
          </a:stretch>
        </p:blipFill>
        <p:spPr>
          <a:xfrm>
            <a:off x="8435340" y="4046220"/>
            <a:ext cx="228600" cy="228600"/>
          </a:xfrm>
          <a:prstGeom prst="rect">
            <a:avLst/>
          </a:prstGeom>
        </p:spPr>
      </p:pic>
      <p:sp>
        <p:nvSpPr>
          <p:cNvPr id="21" name="Text 16"/>
          <p:cNvSpPr txBox="1"/>
          <p:nvPr/>
        </p:nvSpPr>
        <p:spPr>
          <a:xfrm>
            <a:off x="8915400" y="3931920"/>
            <a:ext cx="2423160" cy="457200"/>
          </a:xfrm>
          <a:prstGeom prst="rect">
            <a:avLst/>
          </a:prstGeom>
          <a:noFill/>
          <a:ln/>
        </p:spPr>
        <p:txBody>
          <a:bodyPr wrap="square" lIns="0" tIns="0" rIns="0" bIns="0" rtlCol="0" anchor="ctr"/>
          <a:lstStyle/>
          <a:p>
            <a:pPr indent="0" marL="0">
              <a:buNone/>
            </a:pPr>
            <a:r>
              <a:rPr lang="en-US" sz="1500" b="1" dirty="0">
                <a:solidFill>
                  <a:schemeClr val="accent4"/>
                </a:solidFill>
              </a:rPr>
              <a:t>Docs: not covered at all</a:t>
            </a:r>
            <a:endParaRPr lang="en-US" sz="1500" dirty="0"/>
          </a:p>
        </p:txBody>
      </p:sp>
      <p:sp>
        <p:nvSpPr>
          <p:cNvPr id="22" name="insight card"/>
          <p:cNvSpPr/>
          <p:nvPr/>
        </p:nvSpPr>
        <p:spPr>
          <a:xfrm>
            <a:off x="548640" y="4937760"/>
            <a:ext cx="11064240" cy="1143000"/>
          </a:xfrm>
          <a:prstGeom prst="roundRect">
            <a:avLst>
              <a:gd name="adj" fmla="val 6400"/>
            </a:avLst>
          </a:prstGeom>
          <a:solidFill>
            <a:srgbClr val="FFF4D6"/>
          </a:solidFill>
          <a:ln w="12700">
            <a:solidFill>
              <a:srgbClr val="FFF4D6"/>
            </a:solidFill>
            <a:prstDash val="solid"/>
          </a:ln>
        </p:spPr>
      </p:sp>
      <p:sp>
        <p:nvSpPr>
          <p:cNvPr id="23" name="Text 18"/>
          <p:cNvSpPr txBox="1"/>
          <p:nvPr/>
        </p:nvSpPr>
        <p:spPr>
          <a:xfrm>
            <a:off x="822960" y="5029200"/>
            <a:ext cx="10515600" cy="960120"/>
          </a:xfrm>
          <a:prstGeom prst="rect">
            <a:avLst/>
          </a:prstGeom>
          <a:noFill/>
          <a:ln/>
        </p:spPr>
        <p:txBody>
          <a:bodyPr wrap="square" lIns="0" tIns="0" rIns="0" bIns="0" rtlCol="0" anchor="ctr"/>
          <a:lstStyle/>
          <a:p>
            <a:pPr indent="0" marL="0">
              <a:buNone/>
            </a:pPr>
            <a:r>
              <a:rPr lang="en-US" sz="1500" b="1" dirty="0">
                <a:solidFill>
                  <a:schemeClr val="tx1"/>
                </a:solidFill>
              </a:rPr>
              <a:t>Every guess opened by saying it had no information about GridLine, </a:t>
            </a:r>
            <a:pPr indent="0" marL="0">
              <a:buNone/>
            </a:pPr>
            <a:r>
              <a:rPr lang="en-US" sz="1500" dirty="0">
                <a:solidFill>
                  <a:schemeClr val="tx1"/>
                </a:solidFill>
              </a:rPr>
              <a:t>so the automatic scorer counted them as abstentions. Reading the answers found 2 to 5 per run. Citations let an analyst catch this; a guess gives them nothing to check.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RESULTS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Retrieval worked, with one close call</a:t>
            </a:r>
            <a:endParaRPr lang="en-US" sz="3600" dirty="0"/>
          </a:p>
        </p:txBody>
      </p:sp>
      <p:graphicFrame>
        <p:nvGraphicFramePr>
          <p:cNvPr id="4" name="distance chart" descr=""/>
          <p:cNvGraphicFramePr/>
          <p:nvPr/>
        </p:nvGraphicFramePr>
        <p:xfrm>
          <a:off x="548640" y="1508760"/>
          <a:ext cx="6949440" cy="4617720"/>
        </p:xfrm>
        <a:graphic xmlns:a="http://schemas.openxmlformats.org/drawingml/2006/main">
          <a:graphicData uri="http://schemas.openxmlformats.org/drawingml/2006/chart">
            <c:chart xmlns:c="http://schemas.openxmlformats.org/drawingml/2006/chart" r:id="rId1"/>
          </a:graphicData>
        </a:graphic>
      </p:graphicFrame>
      <p:sp>
        <p:nvSpPr>
          <p:cNvPr id="5" name="Close call on Q01 icon circle"/>
          <p:cNvSpPr/>
          <p:nvPr/>
        </p:nvSpPr>
        <p:spPr>
          <a:xfrm>
            <a:off x="7818120" y="1645920"/>
            <a:ext cx="548640" cy="548640"/>
          </a:xfrm>
          <a:prstGeom prst="ellipse">
            <a:avLst/>
          </a:prstGeom>
          <a:solidFill>
            <a:schemeClr val="bg2"/>
          </a:solidFill>
          <a:ln w="12700">
            <a:solidFill>
              <a:schemeClr val="bg2"/>
            </a:solidFill>
            <a:prstDash val="solid"/>
          </a:ln>
        </p:spPr>
      </p:sp>
      <p:pic>
        <p:nvPicPr>
          <p:cNvPr id="6" name="Close call on Q01 icon" descr="Close call on Q01 icon">    </p:cNvPr>
          <p:cNvPicPr>
            <a:picLocks noChangeAspect="1"/>
          </p:cNvPicPr>
          <p:nvPr/>
        </p:nvPicPr>
        <p:blipFill>
          <a:blip r:embed="rId2"/>
          <a:stretch>
            <a:fillRect/>
          </a:stretch>
        </p:blipFill>
        <p:spPr>
          <a:xfrm>
            <a:off x="7955280" y="1783080"/>
            <a:ext cx="274320" cy="274320"/>
          </a:xfrm>
          <a:prstGeom prst="rect">
            <a:avLst/>
          </a:prstGeom>
        </p:spPr>
      </p:pic>
      <p:sp>
        <p:nvSpPr>
          <p:cNvPr id="7" name="Text 3"/>
          <p:cNvSpPr txBox="1"/>
          <p:nvPr/>
        </p:nvSpPr>
        <p:spPr>
          <a:xfrm>
            <a:off x="8549640" y="1600200"/>
            <a:ext cx="3063240" cy="1417320"/>
          </a:xfrm>
          <a:prstGeom prst="rect">
            <a:avLst/>
          </a:prstGeom>
          <a:noFill/>
          <a:ln/>
        </p:spPr>
        <p:txBody>
          <a:bodyPr wrap="square" lIns="0" tIns="0" rIns="0" bIns="0" rtlCol="0" anchor="t"/>
          <a:lstStyle/>
          <a:p>
            <a:pPr indent="0" marL="0">
              <a:buNone/>
            </a:pPr>
            <a:r>
              <a:rPr lang="en-US" sz="1600" b="1" dirty="0">
                <a:solidFill>
                  <a:schemeClr val="tx1"/>
                </a:solidFill>
              </a:rPr>
              <a:t>Close call on Q01</a:t>
            </a:r>
            <a:endParaRPr lang="en-US" sz="1600" dirty="0"/>
          </a:p>
          <a:p>
            <a:pPr indent="0" marL="0">
              <a:buNone/>
            </a:pPr>
            <a:r>
              <a:rPr lang="en-US" sz="1300" dirty="0">
                <a:solidFill>
                  <a:schemeClr val="accent6"/>
                </a:solidFill>
              </a:rPr>
              <a:t>The right file ranked 4th of 4. Retrieving only 3 chunks would have missed it.</a:t>
            </a:r>
            <a:endParaRPr lang="en-US" sz="1600" dirty="0"/>
          </a:p>
        </p:txBody>
      </p:sp>
      <p:sp>
        <p:nvSpPr>
          <p:cNvPr id="8" name="A possible early “no” icon circle"/>
          <p:cNvSpPr/>
          <p:nvPr/>
        </p:nvSpPr>
        <p:spPr>
          <a:xfrm>
            <a:off x="7818120" y="3154680"/>
            <a:ext cx="548640" cy="548640"/>
          </a:xfrm>
          <a:prstGeom prst="ellipse">
            <a:avLst/>
          </a:prstGeom>
          <a:solidFill>
            <a:schemeClr val="accent1"/>
          </a:solidFill>
          <a:ln w="12700">
            <a:solidFill>
              <a:schemeClr val="accent1"/>
            </a:solidFill>
            <a:prstDash val="solid"/>
          </a:ln>
        </p:spPr>
      </p:sp>
      <p:pic>
        <p:nvPicPr>
          <p:cNvPr id="9" name="A possible early “no” icon" descr="A possible early “no” icon">    </p:cNvPr>
          <p:cNvPicPr>
            <a:picLocks noChangeAspect="1"/>
          </p:cNvPicPr>
          <p:nvPr/>
        </p:nvPicPr>
        <p:blipFill>
          <a:blip r:embed="rId3"/>
          <a:stretch>
            <a:fillRect/>
          </a:stretch>
        </p:blipFill>
        <p:spPr>
          <a:xfrm>
            <a:off x="7955280" y="3291840"/>
            <a:ext cx="274320" cy="274320"/>
          </a:xfrm>
          <a:prstGeom prst="rect">
            <a:avLst/>
          </a:prstGeom>
        </p:spPr>
      </p:pic>
      <p:sp>
        <p:nvSpPr>
          <p:cNvPr id="10" name="Text 5"/>
          <p:cNvSpPr txBox="1"/>
          <p:nvPr/>
        </p:nvSpPr>
        <p:spPr>
          <a:xfrm>
            <a:off x="8549640" y="3108960"/>
            <a:ext cx="3063240" cy="1417320"/>
          </a:xfrm>
          <a:prstGeom prst="rect">
            <a:avLst/>
          </a:prstGeom>
          <a:noFill/>
          <a:ln/>
        </p:spPr>
        <p:txBody>
          <a:bodyPr wrap="square" lIns="0" tIns="0" rIns="0" bIns="0" rtlCol="0" anchor="t"/>
          <a:lstStyle/>
          <a:p>
            <a:pPr indent="0" marL="0">
              <a:buNone/>
            </a:pPr>
            <a:r>
              <a:rPr lang="en-US" sz="1600" b="1" dirty="0">
                <a:solidFill>
                  <a:schemeClr val="tx1"/>
                </a:solidFill>
              </a:rPr>
              <a:t>A possible early “no”</a:t>
            </a:r>
            <a:endParaRPr lang="en-US" sz="1600" dirty="0"/>
          </a:p>
          <a:p>
            <a:pPr indent="0" marL="0">
              <a:buNone/>
            </a:pPr>
            <a:r>
              <a:rPr lang="en-US" sz="1300" dirty="0">
                <a:solidFill>
                  <a:schemeClr val="accent6"/>
                </a:solidFill>
              </a:rPr>
              <a:t>Uncovered questions: above 1.1. Covered: 0.92 or below. A cutoff near 1.0 could abstain before calling the LLM (2 cases: a hint, not proof).</a:t>
            </a:r>
            <a:endParaRPr lang="en-US" sz="1600" dirty="0"/>
          </a:p>
        </p:txBody>
      </p:sp>
      <p:sp>
        <p:nvSpPr>
          <p:cNvPr id="11" name="Multi-Query added nothing icon circle"/>
          <p:cNvSpPr/>
          <p:nvPr/>
        </p:nvSpPr>
        <p:spPr>
          <a:xfrm>
            <a:off x="7818120" y="4663440"/>
            <a:ext cx="548640" cy="548640"/>
          </a:xfrm>
          <a:prstGeom prst="ellipse">
            <a:avLst/>
          </a:prstGeom>
          <a:solidFill>
            <a:schemeClr val="bg2"/>
          </a:solidFill>
          <a:ln w="12700">
            <a:solidFill>
              <a:schemeClr val="bg2"/>
            </a:solidFill>
            <a:prstDash val="solid"/>
          </a:ln>
        </p:spPr>
      </p:sp>
      <p:pic>
        <p:nvPicPr>
          <p:cNvPr id="12" name="Multi-Query added nothing icon" descr="Multi-Query added nothing icon">    </p:cNvPr>
          <p:cNvPicPr>
            <a:picLocks noChangeAspect="1"/>
          </p:cNvPicPr>
          <p:nvPr/>
        </p:nvPicPr>
        <p:blipFill>
          <a:blip r:embed="rId4"/>
          <a:stretch>
            <a:fillRect/>
          </a:stretch>
        </p:blipFill>
        <p:spPr>
          <a:xfrm>
            <a:off x="7955280" y="4800600"/>
            <a:ext cx="274320" cy="274320"/>
          </a:xfrm>
          <a:prstGeom prst="rect">
            <a:avLst/>
          </a:prstGeom>
        </p:spPr>
      </p:pic>
      <p:sp>
        <p:nvSpPr>
          <p:cNvPr id="13" name="Text 7"/>
          <p:cNvSpPr txBox="1"/>
          <p:nvPr/>
        </p:nvSpPr>
        <p:spPr>
          <a:xfrm>
            <a:off x="8549640" y="4617720"/>
            <a:ext cx="3063240" cy="1417320"/>
          </a:xfrm>
          <a:prstGeom prst="rect">
            <a:avLst/>
          </a:prstGeom>
          <a:noFill/>
          <a:ln/>
        </p:spPr>
        <p:txBody>
          <a:bodyPr wrap="square" lIns="0" tIns="0" rIns="0" bIns="0" rtlCol="0" anchor="t"/>
          <a:lstStyle/>
          <a:p>
            <a:pPr indent="0" marL="0">
              <a:buNone/>
            </a:pPr>
            <a:r>
              <a:rPr lang="en-US" sz="1600" b="1" dirty="0">
                <a:solidFill>
                  <a:schemeClr val="tx1"/>
                </a:solidFill>
              </a:rPr>
              <a:t>Multi-Query added nothing</a:t>
            </a:r>
            <a:endParaRPr lang="en-US" sz="1600" dirty="0"/>
          </a:p>
          <a:p>
            <a:pPr indent="0" marL="0">
              <a:buNone/>
            </a:pPr>
            <a:r>
              <a:rPr lang="en-US" sz="1300" dirty="0">
                <a:solidFill>
                  <a:schemeClr val="accent6"/>
                </a:solidFill>
              </a:rPr>
              <a:t>5 rewrites per question found the same files, 8 of 8.</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5"/>
                </a:solidFill>
              </a:rPr>
              <a:t>CONCLUSIONS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tx1"/>
                </a:solidFill>
              </a:rPr>
              <a:t>Limits and next steps</a:t>
            </a:r>
            <a:endParaRPr lang="en-US" sz="3600" dirty="0"/>
          </a:p>
        </p:txBody>
      </p:sp>
      <p:sp>
        <p:nvSpPr>
          <p:cNvPr id="4" name="limits card"/>
          <p:cNvSpPr/>
          <p:nvPr/>
        </p:nvSpPr>
        <p:spPr>
          <a:xfrm>
            <a:off x="548640" y="1645920"/>
            <a:ext cx="5394960" cy="3931920"/>
          </a:xfrm>
          <a:prstGeom prst="roundRect">
            <a:avLst>
              <a:gd name="adj" fmla="val 1860"/>
            </a:avLst>
          </a:prstGeom>
          <a:solidFill>
            <a:schemeClr val="bg2"/>
          </a:solidFill>
          <a:ln w="12700">
            <a:solidFill>
              <a:schemeClr val="bg2"/>
            </a:solidFill>
            <a:prstDash val="solid"/>
          </a:ln>
        </p:spPr>
      </p:sp>
      <p:sp>
        <p:nvSpPr>
          <p:cNvPr id="5" name="Text 3"/>
          <p:cNvSpPr txBox="1"/>
          <p:nvPr/>
        </p:nvSpPr>
        <p:spPr>
          <a:xfrm>
            <a:off x="868680" y="1874520"/>
            <a:ext cx="4754880" cy="457200"/>
          </a:xfrm>
          <a:prstGeom prst="rect">
            <a:avLst/>
          </a:prstGeom>
          <a:noFill/>
          <a:ln/>
        </p:spPr>
        <p:txBody>
          <a:bodyPr wrap="square" lIns="0" tIns="0" rIns="0" bIns="0" rtlCol="0" anchor="ctr"/>
          <a:lstStyle/>
          <a:p>
            <a:pPr indent="0" marL="0">
              <a:buNone/>
            </a:pPr>
            <a:r>
              <a:rPr lang="en-US" sz="2200" b="1" dirty="0">
                <a:solidFill>
                  <a:schemeClr val="tx1"/>
                </a:solidFill>
              </a:rPr>
              <a:t>Limits</a:t>
            </a:r>
            <a:endParaRPr lang="en-US" sz="2200" dirty="0"/>
          </a:p>
        </p:txBody>
      </p:sp>
      <p:sp>
        <p:nvSpPr>
          <p:cNvPr id="6" name="Text 4"/>
          <p:cNvSpPr txBox="1"/>
          <p:nvPr/>
        </p:nvSpPr>
        <p:spPr>
          <a:xfrm>
            <a:off x="868680" y="2468880"/>
            <a:ext cx="4846320" cy="30175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10 questions show behavior; they're not a benchmark</a:t>
            </a:r>
            <a:endParaRPr lang="en-US" sz="1800" dirty="0"/>
          </a:p>
          <a:p>
            <a:pPr marL="342900" indent="-342900">
              <a:spcAft>
                <a:spcPts val="1000"/>
              </a:spcAft>
              <a:buSzPct val="100000"/>
              <a:buChar char="•"/>
            </a:pPr>
            <a:r>
              <a:rPr lang="en-US" sz="1800" dirty="0">
                <a:solidFill>
                  <a:schemeClr val="tx1"/>
                </a:solidFill>
              </a:rPr>
              <a:t>Synthetic, clean docs: one fact per heading</a:t>
            </a:r>
            <a:endParaRPr lang="en-US" sz="1800" dirty="0"/>
          </a:p>
          <a:p>
            <a:pPr marL="342900" indent="-342900">
              <a:spcAft>
                <a:spcPts val="1000"/>
              </a:spcAft>
              <a:buSzPct val="100000"/>
              <a:buChar char="•"/>
            </a:pPr>
            <a:r>
              <a:rPr lang="en-US" sz="1800" dirty="0">
                <a:solidFill>
                  <a:schemeClr val="tx1"/>
                </a:solidFill>
              </a:rPr>
              <a:t>I wrote the questions and the docs, so the wording matches</a:t>
            </a:r>
            <a:endParaRPr lang="en-US" sz="1800" dirty="0"/>
          </a:p>
          <a:p>
            <a:pPr marL="342900" indent="-342900">
              <a:spcAft>
                <a:spcPts val="1000"/>
              </a:spcAft>
              <a:buSzPct val="100000"/>
              <a:buChar char="•"/>
            </a:pPr>
            <a:r>
              <a:rPr lang="en-US" sz="1800" dirty="0">
                <a:solidFill>
                  <a:schemeClr val="tx1"/>
                </a:solidFill>
              </a:rPr>
              <a:t>3,900 tokens would fit in one prompt; RAG pays off at hundreds of pages</a:t>
            </a:r>
            <a:endParaRPr lang="en-US" sz="1800" dirty="0"/>
          </a:p>
        </p:txBody>
      </p:sp>
      <p:sp>
        <p:nvSpPr>
          <p:cNvPr id="7" name="next steps card"/>
          <p:cNvSpPr/>
          <p:nvPr/>
        </p:nvSpPr>
        <p:spPr>
          <a:xfrm>
            <a:off x="6263640" y="1645920"/>
            <a:ext cx="5349240" cy="3931920"/>
          </a:xfrm>
          <a:prstGeom prst="roundRect">
            <a:avLst>
              <a:gd name="adj" fmla="val 1860"/>
            </a:avLst>
          </a:prstGeom>
          <a:solidFill>
            <a:srgbClr val="FFF4D6"/>
          </a:solidFill>
          <a:ln w="12700">
            <a:solidFill>
              <a:srgbClr val="FFF4D6"/>
            </a:solidFill>
            <a:prstDash val="solid"/>
          </a:ln>
        </p:spPr>
      </p:sp>
      <p:sp>
        <p:nvSpPr>
          <p:cNvPr id="8" name="Text 6"/>
          <p:cNvSpPr txBox="1"/>
          <p:nvPr/>
        </p:nvSpPr>
        <p:spPr>
          <a:xfrm>
            <a:off x="6583680" y="1874520"/>
            <a:ext cx="4754880" cy="457200"/>
          </a:xfrm>
          <a:prstGeom prst="rect">
            <a:avLst/>
          </a:prstGeom>
          <a:noFill/>
          <a:ln/>
        </p:spPr>
        <p:txBody>
          <a:bodyPr wrap="square" lIns="0" tIns="0" rIns="0" bIns="0" rtlCol="0" anchor="ctr"/>
          <a:lstStyle/>
          <a:p>
            <a:pPr indent="0" marL="0">
              <a:buNone/>
            </a:pPr>
            <a:r>
              <a:rPr lang="en-US" sz="2200" b="1" dirty="0">
                <a:solidFill>
                  <a:schemeClr val="tx1"/>
                </a:solidFill>
              </a:rPr>
              <a:t>Next steps</a:t>
            </a:r>
            <a:endParaRPr lang="en-US" sz="2200" dirty="0"/>
          </a:p>
        </p:txBody>
      </p:sp>
      <p:sp>
        <p:nvSpPr>
          <p:cNvPr id="9" name="Text 7"/>
          <p:cNvSpPr txBox="1"/>
          <p:nvPr/>
        </p:nvSpPr>
        <p:spPr>
          <a:xfrm>
            <a:off x="6583680" y="2468880"/>
            <a:ext cx="4754880" cy="301752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800" dirty="0">
                <a:solidFill>
                  <a:schemeClr val="tx1"/>
                </a:solidFill>
              </a:rPr>
              <a:t>Questions written by analysts, in their own words</a:t>
            </a:r>
            <a:endParaRPr lang="en-US" sz="1800" dirty="0"/>
          </a:p>
          <a:p>
            <a:pPr marL="342900" indent="-342900">
              <a:spcAft>
                <a:spcPts val="1000"/>
              </a:spcAft>
              <a:buSzPct val="100000"/>
              <a:buFont typeface="+mj-lt"/>
              <a:buAutoNum type="arabicPeriod" startAt="1"/>
            </a:pPr>
            <a:r>
              <a:rPr lang="en-US" sz="1800" dirty="0">
                <a:solidFill>
                  <a:schemeClr val="tx1"/>
                </a:solidFill>
              </a:rPr>
              <a:t>An LLM judge to flag values not in the context</a:t>
            </a:r>
            <a:endParaRPr lang="en-US" sz="1800" dirty="0"/>
          </a:p>
          <a:p>
            <a:pPr marL="342900" indent="-342900">
              <a:spcAft>
                <a:spcPts val="1000"/>
              </a:spcAft>
              <a:buSzPct val="100000"/>
              <a:buFont typeface="+mj-lt"/>
              <a:buAutoNum type="arabicPeriod" startAt="1"/>
            </a:pPr>
            <a:r>
              <a:rPr lang="en-US" sz="1800" dirty="0">
                <a:solidFill>
                  <a:schemeClr val="tx1"/>
                </a:solidFill>
              </a:rPr>
              <a:t>Filter retrieval by co-op so one co-op's exception never answers for another</a:t>
            </a:r>
            <a:endParaRPr lang="en-US" sz="1800" dirty="0"/>
          </a:p>
          <a:p>
            <a:pPr marL="342900" indent="-342900">
              <a:spcAft>
                <a:spcPts val="1000"/>
              </a:spcAft>
              <a:buSzPct val="100000"/>
              <a:buFont typeface="+mj-lt"/>
              <a:buAutoNum type="arabicPeriod" startAt="1"/>
            </a:pPr>
            <a:r>
              <a:rPr lang="en-US" sz="1800" dirty="0">
                <a:solidFill>
                  <a:schemeClr val="tx1"/>
                </a:solidFill>
              </a:rPr>
              <a:t>Point the loader at a Confluence space and rerun</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CONCLUSIONS</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600" b="1" dirty="0">
                <a:solidFill>
                  <a:schemeClr val="bg1"/>
                </a:solidFill>
              </a:rPr>
              <a:t>What I learned</a:t>
            </a:r>
            <a:endParaRPr lang="en-US" sz="3600" dirty="0"/>
          </a:p>
        </p:txBody>
      </p:sp>
      <p:sp>
        <p:nvSpPr>
          <p:cNvPr id="4" name="takeaway 1 icon circle"/>
          <p:cNvSpPr/>
          <p:nvPr/>
        </p:nvSpPr>
        <p:spPr>
          <a:xfrm>
            <a:off x="548640" y="1691640"/>
            <a:ext cx="777240" cy="777240"/>
          </a:xfrm>
          <a:prstGeom prst="ellipse">
            <a:avLst/>
          </a:prstGeom>
          <a:solidFill>
            <a:schemeClr val="accent1"/>
          </a:solidFill>
          <a:ln w="12700">
            <a:solidFill>
              <a:schemeClr val="accent1"/>
            </a:solidFill>
            <a:prstDash val="solid"/>
          </a:ln>
        </p:spPr>
      </p:sp>
      <p:pic>
        <p:nvPicPr>
          <p:cNvPr id="5" name="takeaway 1 icon" descr="takeaway 1 icon">    </p:cNvPr>
          <p:cNvPicPr>
            <a:picLocks noChangeAspect="1"/>
          </p:cNvPicPr>
          <p:nvPr/>
        </p:nvPicPr>
        <p:blipFill>
          <a:blip r:embed="rId1"/>
          <a:stretch>
            <a:fillRect/>
          </a:stretch>
        </p:blipFill>
        <p:spPr>
          <a:xfrm>
            <a:off x="742950" y="1885950"/>
            <a:ext cx="388620" cy="388620"/>
          </a:xfrm>
          <a:prstGeom prst="rect">
            <a:avLst/>
          </a:prstGeom>
        </p:spPr>
      </p:pic>
      <p:sp>
        <p:nvSpPr>
          <p:cNvPr id="6" name="Text 3"/>
          <p:cNvSpPr txBox="1"/>
          <p:nvPr/>
        </p:nvSpPr>
        <p:spPr>
          <a:xfrm>
            <a:off x="1600200" y="1645920"/>
            <a:ext cx="9966960" cy="1097280"/>
          </a:xfrm>
          <a:prstGeom prst="rect">
            <a:avLst/>
          </a:prstGeom>
          <a:noFill/>
          <a:ln/>
        </p:spPr>
        <p:txBody>
          <a:bodyPr wrap="square" lIns="0" tIns="0" rIns="0" bIns="0" rtlCol="0" anchor="t"/>
          <a:lstStyle/>
          <a:p>
            <a:pPr indent="0" marL="0">
              <a:buNone/>
            </a:pPr>
            <a:r>
              <a:rPr lang="en-US" sz="2200" b="1" dirty="0">
                <a:solidFill>
                  <a:schemeClr val="bg1"/>
                </a:solidFill>
              </a:rPr>
              <a:t>RAG works on private, nonstandard knowledge</a:t>
            </a:r>
            <a:endParaRPr lang="en-US" sz="2200" dirty="0"/>
          </a:p>
          <a:p>
            <a:pPr indent="0" marL="0">
              <a:buNone/>
            </a:pPr>
            <a:r>
              <a:rPr lang="en-US" sz="1600" dirty="0">
                <a:solidFill>
                  <a:srgbClr val="CFD8E3"/>
                </a:solidFill>
              </a:rPr>
              <a:t>100% of key facts with a citation, vs. 12.5% without the docs.</a:t>
            </a:r>
            <a:endParaRPr lang="en-US" sz="2200" dirty="0"/>
          </a:p>
        </p:txBody>
      </p:sp>
      <p:sp>
        <p:nvSpPr>
          <p:cNvPr id="7" name="takeaway 2 icon circle"/>
          <p:cNvSpPr/>
          <p:nvPr/>
        </p:nvSpPr>
        <p:spPr>
          <a:xfrm>
            <a:off x="548640" y="3154680"/>
            <a:ext cx="777240" cy="777240"/>
          </a:xfrm>
          <a:prstGeom prst="ellipse">
            <a:avLst/>
          </a:prstGeom>
          <a:solidFill>
            <a:schemeClr val="accent1"/>
          </a:solidFill>
          <a:ln w="12700">
            <a:solidFill>
              <a:schemeClr val="accent1"/>
            </a:solidFill>
            <a:prstDash val="solid"/>
          </a:ln>
        </p:spPr>
      </p:sp>
      <p:pic>
        <p:nvPicPr>
          <p:cNvPr id="8" name="takeaway 2 icon" descr="takeaway 2 icon">    </p:cNvPr>
          <p:cNvPicPr>
            <a:picLocks noChangeAspect="1"/>
          </p:cNvPicPr>
          <p:nvPr/>
        </p:nvPicPr>
        <p:blipFill>
          <a:blip r:embed="rId2"/>
          <a:stretch>
            <a:fillRect/>
          </a:stretch>
        </p:blipFill>
        <p:spPr>
          <a:xfrm>
            <a:off x="742950" y="3348990"/>
            <a:ext cx="388620" cy="388620"/>
          </a:xfrm>
          <a:prstGeom prst="rect">
            <a:avLst/>
          </a:prstGeom>
        </p:spPr>
      </p:pic>
      <p:sp>
        <p:nvSpPr>
          <p:cNvPr id="9" name="Text 5"/>
          <p:cNvSpPr txBox="1"/>
          <p:nvPr/>
        </p:nvSpPr>
        <p:spPr>
          <a:xfrm>
            <a:off x="1600200" y="3108960"/>
            <a:ext cx="9966960" cy="1097280"/>
          </a:xfrm>
          <a:prstGeom prst="rect">
            <a:avLst/>
          </a:prstGeom>
          <a:noFill/>
          <a:ln/>
        </p:spPr>
        <p:txBody>
          <a:bodyPr wrap="square" lIns="0" tIns="0" rIns="0" bIns="0" rtlCol="0" anchor="t"/>
          <a:lstStyle/>
          <a:p>
            <a:pPr indent="0" marL="0">
              <a:buNone/>
            </a:pPr>
            <a:r>
              <a:rPr lang="en-US" sz="2200" b="1" dirty="0">
                <a:solidFill>
                  <a:schemeClr val="bg1"/>
                </a:solidFill>
              </a:rPr>
              <a:t>The risk isn't confident fabrication</a:t>
            </a:r>
            <a:endParaRPr lang="en-US" sz="2200" dirty="0"/>
          </a:p>
          <a:p>
            <a:pPr indent="0" marL="0">
              <a:buNone/>
            </a:pPr>
            <a:r>
              <a:rPr lang="en-US" sz="1600" dirty="0">
                <a:solidFill>
                  <a:srgbClr val="CFD8E3"/>
                </a:solidFill>
              </a:rPr>
              <a:t>It's a polite “I'm not sure, but typically…” that an analyst could act on.</a:t>
            </a:r>
            <a:endParaRPr lang="en-US" sz="2200" dirty="0"/>
          </a:p>
        </p:txBody>
      </p:sp>
      <p:sp>
        <p:nvSpPr>
          <p:cNvPr id="10" name="takeaway 3 icon circle"/>
          <p:cNvSpPr/>
          <p:nvPr/>
        </p:nvSpPr>
        <p:spPr>
          <a:xfrm>
            <a:off x="548640" y="4617720"/>
            <a:ext cx="777240" cy="777240"/>
          </a:xfrm>
          <a:prstGeom prst="ellipse">
            <a:avLst/>
          </a:prstGeom>
          <a:solidFill>
            <a:schemeClr val="accent1"/>
          </a:solidFill>
          <a:ln w="12700">
            <a:solidFill>
              <a:schemeClr val="accent1"/>
            </a:solidFill>
            <a:prstDash val="solid"/>
          </a:ln>
        </p:spPr>
      </p:sp>
      <p:pic>
        <p:nvPicPr>
          <p:cNvPr id="11" name="takeaway 3 icon" descr="takeaway 3 icon">    </p:cNvPr>
          <p:cNvPicPr>
            <a:picLocks noChangeAspect="1"/>
          </p:cNvPicPr>
          <p:nvPr/>
        </p:nvPicPr>
        <p:blipFill>
          <a:blip r:embed="rId3"/>
          <a:stretch>
            <a:fillRect/>
          </a:stretch>
        </p:blipFill>
        <p:spPr>
          <a:xfrm>
            <a:off x="742950" y="4812030"/>
            <a:ext cx="388620" cy="388620"/>
          </a:xfrm>
          <a:prstGeom prst="rect">
            <a:avLst/>
          </a:prstGeom>
        </p:spPr>
      </p:pic>
      <p:sp>
        <p:nvSpPr>
          <p:cNvPr id="12" name="Text 7"/>
          <p:cNvSpPr txBox="1"/>
          <p:nvPr/>
        </p:nvSpPr>
        <p:spPr>
          <a:xfrm>
            <a:off x="1600200" y="4572000"/>
            <a:ext cx="9966960" cy="1097280"/>
          </a:xfrm>
          <a:prstGeom prst="rect">
            <a:avLst/>
          </a:prstGeom>
          <a:noFill/>
          <a:ln/>
        </p:spPr>
        <p:txBody>
          <a:bodyPr wrap="square" lIns="0" tIns="0" rIns="0" bIns="0" rtlCol="0" anchor="t"/>
          <a:lstStyle/>
          <a:p>
            <a:pPr indent="0" marL="0">
              <a:buNone/>
            </a:pPr>
            <a:r>
              <a:rPr lang="en-US" sz="2200" b="1" dirty="0">
                <a:solidFill>
                  <a:schemeClr val="bg1"/>
                </a:solidFill>
              </a:rPr>
              <a:t>Automatic scoring isn't enough</a:t>
            </a:r>
            <a:endParaRPr lang="en-US" sz="2200" dirty="0"/>
          </a:p>
          <a:p>
            <a:pPr indent="0" marL="0">
              <a:buNone/>
            </a:pPr>
            <a:r>
              <a:rPr lang="en-US" sz="1600" dirty="0">
                <a:solidFill>
                  <a:srgbClr val="CFD8E3"/>
                </a:solidFill>
              </a:rPr>
              <a:t>Phrase matching missed every hedged guess. Read the answers, or add an LLM judge.</a:t>
            </a:r>
            <a:endParaRPr lang="en-US" sz="2200" dirty="0"/>
          </a:p>
        </p:txBody>
      </p:sp>
      <p:sp>
        <p:nvSpPr>
          <p:cNvPr id="13" name="Text 8"/>
          <p:cNvSpPr txBox="1"/>
          <p:nvPr/>
        </p:nvSpPr>
        <p:spPr>
          <a:xfrm>
            <a:off x="548640" y="5989320"/>
            <a:ext cx="10515600" cy="457200"/>
          </a:xfrm>
          <a:prstGeom prst="rect">
            <a:avLst/>
          </a:prstGeom>
          <a:noFill/>
          <a:ln/>
        </p:spPr>
        <p:txBody>
          <a:bodyPr wrap="square" lIns="0" tIns="0" rIns="0" bIns="0" rtlCol="0" anchor="ctr"/>
          <a:lstStyle/>
          <a:p>
            <a:pPr indent="0" marL="0">
              <a:buNone/>
            </a:pPr>
            <a:r>
              <a:rPr lang="en-US" sz="1600" i="1" dirty="0">
                <a:solidFill>
                  <a:srgbClr val="F2A900"/>
                </a:solidFill>
              </a:rPr>
              <a:t>RAG turned a model that could only decline or guess into one that answers with a source you can check.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8"/>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UtilityRAG">
  <a:themeElements>
    <a:clrScheme name="UtilityRAG">
      <a:dk1>
        <a:srgbClr val="14213D"/>
      </a:dk1>
      <a:lt1>
        <a:srgbClr val="FFFFFF"/>
      </a:lt1>
      <a:dk2>
        <a:srgbClr val="0B1526"/>
      </a:dk2>
      <a:lt2>
        <a:srgbClr val="EEF1F6"/>
      </a:lt2>
      <a:accent1>
        <a:srgbClr val="F2A900"/>
      </a:accent1>
      <a:accent2>
        <a:srgbClr val="2A9D8F"/>
      </a:accent2>
      <a:accent3>
        <a:srgbClr val="8D99AE"/>
      </a:accent3>
      <a:accent4>
        <a:srgbClr val="C8423B"/>
      </a:accent4>
      <a:accent5>
        <a:srgbClr val="3D5A80"/>
      </a:accent5>
      <a:accent6>
        <a:srgbClr val="5C677D"/>
      </a:accent6>
      <a:hlink>
        <a:srgbClr val="3D5A80"/>
      </a:hlink>
      <a:folHlink>
        <a:srgbClr val="6D597A"/>
      </a:folHlink>
    </a:clrScheme>
    <a:fontScheme name="UtilityRA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UtilityRAG</dc:title>
  <dc:subject>PptxGenJS Presentation</dc:subject>
  <dc:creator>Maxx Millstein</dc:creator>
  <cp:lastModifiedBy>Maxx Millstein</cp:lastModifiedBy>
  <cp:revision>1</cp:revision>
  <dcterms:created xsi:type="dcterms:W3CDTF">2026-10-26T15:22:07Z</dcterms:created>
  <dcterms:modified xsi:type="dcterms:W3CDTF">2026-10-26T15:22:07Z</dcterms:modified>
</cp:coreProperties>
</file>